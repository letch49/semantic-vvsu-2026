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7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FFA208-8EF5-AE12-09B7-E14E1461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F497BA-CA4B-D8D9-4300-5FCFE63CB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0A961F-6E5B-00C6-A584-5880B00F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A487A5-F134-06FC-5039-B01AFE8F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9D3243-1778-72BD-DFCF-3850ACD99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25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FD42A-1022-06A5-E744-BE0BDA3F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125B24-60E2-96C7-B339-3D7942ED6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F03A5F-37B8-D5E6-A2FA-94CC7D9A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E44C44-E1EF-3D6D-0564-B72CE35F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1951F-4D3C-FDA8-0586-10B150AC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9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AB334-7373-7A81-D959-650255494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C820DC-7AD9-2803-13B2-C1594F810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F4B9AA-A946-52E7-004C-AE336AE6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4554D0-4DFE-619E-386C-01F1856E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AF3157-528A-F8FF-3CAD-8EE7D488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32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9ACCD-47E8-3A80-DDA9-BD501241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A7E2F1-3526-BB1A-C111-11F4F11FA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D497B5-9A96-B3BA-6D3D-36EC555C5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936ADA-1429-D318-ED88-13907B86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B07CF3-9BC1-DD06-2E10-A9F51736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739D72-8A65-74D8-3228-7640634FE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5984E-B0CE-694D-DCB4-2BB0399B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C9FECC-80E5-F67F-9986-C97A39BBB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3F3AE7-B11E-8C29-AFDB-42858A376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72FB85-56F0-E303-41E1-B9E8A5575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9A2DE56-D655-447A-11E2-45DE211C5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CB6627-5474-68F0-D51E-3A5B1547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026994-5808-2F8E-0577-8E23F3FA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048F78-4F9D-B5E5-157E-A5FEF5E9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77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F69862-7C7C-FB91-6618-6FC0F3E8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B83A3B-1504-A8E5-0403-B9F00E543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C287ED8-A182-0232-F904-80A01E6A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F469A1-D979-D790-8764-72A0D02F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74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89F44C-24DB-A02B-6900-A72EF4420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60F916-DF8F-E7DF-AB57-E2D6DB6A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EDA422-0A22-4B3F-6AA9-F95D989B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61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161201-FDD9-0C74-2B1A-CC25A0E5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C676B-0E15-00ED-AE0B-B36FAE6B5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0B610E-538D-33E7-CF94-A7DE26E5D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827345-3E4F-8C6D-5901-2D32C8B5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99172A-1C46-C9D7-0D3F-20F5E4A7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D85FFA-C571-388B-A8A3-B966B516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34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981BD-44D8-8BEC-0E22-EDAEB86B7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ADFA62C-90CA-CEC4-7227-57154C27E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6F9848-4333-4802-D10A-833978B5D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555EE2-9276-7C55-5141-F070F1BD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93ACCD-4ECD-631F-E5C4-0E4788BB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7DCDE5-E472-80C5-AB3B-F66AB754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28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E99EE-37F8-6A7E-717C-23BF4864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7CAC20-E5BA-D888-BCC4-C8480B0B3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435DCC-A481-3D8D-12DA-B4A3BF298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4E7F96-9CD9-9B1B-6020-F1DBD5DE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6700DC-3452-D57C-59A5-2FA8408F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50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26FDC2-C96C-A6C0-3013-9FEEBB80A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A6D677-1B72-4167-4564-071D08841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BAE9A5-F0BD-CF5B-A492-7C453FD9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68504D-AA4B-6215-0378-FD23ED71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E8C0EC-A588-9238-0635-38B3AD78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820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33733-D2AB-2F5B-5881-2A18299A4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CE7779-B2E6-21A1-97B8-6238AD2FD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0DA190-E7F4-73F2-A879-BBAEB4D24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90200-5AD0-DA47-9B4C-2AF521D514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6779BF-C45D-45CC-4518-951A06A4C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9282CD-57A8-4D94-4BBF-4DBFA84D0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96E72-75C2-6643-9239-7A19E52AD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03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64981-0CC2-E252-8E6F-25053D315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Лекция 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24B30-D96E-8AD1-9BD0-2FCCB74979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Все о нейросетях и не только</a:t>
            </a:r>
          </a:p>
        </p:txBody>
      </p:sp>
    </p:spTree>
    <p:extLst>
      <p:ext uri="{BB962C8B-B14F-4D97-AF65-F5344CB8AC3E}">
        <p14:creationId xmlns:p14="http://schemas.microsoft.com/office/powerpoint/2010/main" val="1691345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B977C-A485-8FD8-F1BA-8797814C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сегодня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27047-DDCE-A31D-3FAD-C60798006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Какие задачи решаются с использованием нейросетей</a:t>
            </a:r>
          </a:p>
          <a:p>
            <a:r>
              <a:rPr lang="ru-RU" dirty="0"/>
              <a:t>Историческая справка о развитии рынка </a:t>
            </a:r>
            <a:r>
              <a:rPr lang="en-US" dirty="0"/>
              <a:t>LLM</a:t>
            </a:r>
          </a:p>
          <a:p>
            <a:r>
              <a:rPr lang="ru-RU" dirty="0"/>
              <a:t>Игроки на рынке (завтра станет </a:t>
            </a:r>
            <a:r>
              <a:rPr lang="ru-RU"/>
              <a:t>не актуально)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069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1DB3C-9725-8DF4-04FB-B3DBC882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нейросетей</a:t>
            </a:r>
            <a:br>
              <a:rPr lang="ru-RU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#1</a:t>
            </a:r>
            <a:endParaRPr lang="ru-RU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5ACF8-6EE1-EA5E-82AF-DEB20A3A3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Как можем понять</a:t>
            </a:r>
            <a:r>
              <a:rPr lang="en-US" dirty="0"/>
              <a:t>, </a:t>
            </a:r>
            <a:r>
              <a:rPr lang="ru-RU" dirty="0"/>
              <a:t>где котик где собачка</a:t>
            </a:r>
            <a:r>
              <a:rPr lang="en-US" dirty="0"/>
              <a:t>?</a:t>
            </a:r>
            <a:r>
              <a:rPr lang="ru-RU" dirty="0"/>
              <a:t> Какие подходы есть</a:t>
            </a:r>
            <a:r>
              <a:rPr lang="en-US" dirty="0"/>
              <a:t>?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милый маленький оранжевый котик милый котенок PNG , клипарт ...">
            <a:extLst>
              <a:ext uri="{FF2B5EF4-FFF2-40B4-BE49-F238E27FC236}">
                <a16:creationId xmlns:a16="http://schemas.microsoft.com/office/drawing/2014/main" id="{54B249C1-41F2-CF62-F10E-BB260C82A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380" y="2511971"/>
            <a:ext cx="3260725" cy="326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Маленькая собака с хвостиком на голове (63 фото) - картинки sobakovod.club">
            <a:extLst>
              <a:ext uri="{FF2B5EF4-FFF2-40B4-BE49-F238E27FC236}">
                <a16:creationId xmlns:a16="http://schemas.microsoft.com/office/drawing/2014/main" id="{EF9EA2B9-EAAE-AC98-98CC-87B5D8942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008" y="2636726"/>
            <a:ext cx="2192191" cy="301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39758A-BF21-6BE0-E721-F1C019B2AAAD}"/>
              </a:ext>
            </a:extLst>
          </p:cNvPr>
          <p:cNvSpPr txBox="1"/>
          <p:nvPr/>
        </p:nvSpPr>
        <p:spPr>
          <a:xfrm>
            <a:off x="2678769" y="5647940"/>
            <a:ext cx="1975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Гав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7D728-4341-40FD-785A-CBCBDC66D4EF}"/>
              </a:ext>
            </a:extLst>
          </p:cNvPr>
          <p:cNvSpPr txBox="1"/>
          <p:nvPr/>
        </p:nvSpPr>
        <p:spPr>
          <a:xfrm>
            <a:off x="7623130" y="5647940"/>
            <a:ext cx="1975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Мяу</a:t>
            </a:r>
          </a:p>
        </p:txBody>
      </p:sp>
    </p:spTree>
    <p:extLst>
      <p:ext uri="{BB962C8B-B14F-4D97-AF65-F5344CB8AC3E}">
        <p14:creationId xmlns:p14="http://schemas.microsoft.com/office/powerpoint/2010/main" val="209609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11655A-BFCD-8D9D-E277-1DEC8DB9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Традиционный подход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272F5A-DBA0-DB30-B240-237E895F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Идейно выглядело бы так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ru-RU" dirty="0"/>
              <a:t>Найти пиксели</a:t>
            </a:r>
            <a:r>
              <a:rPr lang="en-US" dirty="0"/>
              <a:t>, </a:t>
            </a:r>
            <a:r>
              <a:rPr lang="ru-RU" dirty="0"/>
              <a:t>где есть острые уши (но есть и собаки с острыми ушами)</a:t>
            </a:r>
          </a:p>
          <a:p>
            <a:pPr>
              <a:buFontTx/>
              <a:buChar char="-"/>
            </a:pPr>
            <a:r>
              <a:rPr lang="ru-RU" dirty="0"/>
              <a:t>Каким-то образом по голове пытались бы понять ( по пикселям)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результате получили бы много кода</a:t>
            </a:r>
            <a:r>
              <a:rPr lang="en-US" dirty="0"/>
              <a:t>, </a:t>
            </a:r>
            <a:r>
              <a:rPr lang="ru-RU" dirty="0"/>
              <a:t>которое по умолчанию не работает совсем</a:t>
            </a:r>
          </a:p>
        </p:txBody>
      </p:sp>
    </p:spTree>
    <p:extLst>
      <p:ext uri="{BB962C8B-B14F-4D97-AF65-F5344CB8AC3E}">
        <p14:creationId xmlns:p14="http://schemas.microsoft.com/office/powerpoint/2010/main" val="29973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0807-70AC-5970-DFE3-FB27BACB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A0B4AF-8835-24C8-67BE-C31D0C27D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нейросетей</a:t>
            </a:r>
            <a:br>
              <a:rPr lang="ru-RU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#2</a:t>
            </a:r>
            <a:endParaRPr lang="ru-RU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B0D863-9C5C-A963-447C-3DD8E10C0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Реализовать сортировку</a:t>
            </a:r>
            <a:r>
              <a:rPr lang="en-US" dirty="0"/>
              <a:t> </a:t>
            </a:r>
            <a:r>
              <a:rPr lang="ru-RU" dirty="0"/>
              <a:t>целочисленного массива </a:t>
            </a:r>
            <a:r>
              <a:rPr lang="en-US" dirty="0"/>
              <a:t>[3,5,7,9,0,-5]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Нужно обучить нейросеть на множестве данных о массивах</a:t>
            </a:r>
            <a:r>
              <a:rPr lang="en-US" dirty="0"/>
              <a:t>, </a:t>
            </a:r>
            <a:r>
              <a:rPr lang="ru-RU" dirty="0"/>
              <a:t>учитывать переменную длину</a:t>
            </a:r>
            <a:r>
              <a:rPr lang="en-US" dirty="0"/>
              <a:t>, </a:t>
            </a:r>
            <a:r>
              <a:rPr lang="ru-RU" dirty="0"/>
              <a:t>разные кейсы</a:t>
            </a:r>
            <a:r>
              <a:rPr lang="en-US" dirty="0"/>
              <a:t>, </a:t>
            </a:r>
            <a:r>
              <a:rPr lang="ru-RU" dirty="0"/>
              <a:t>и учитывать неточность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403572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5B557-25D3-2B46-56D1-DB342CA5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в чем смысл всего этого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85D8B-FBEF-28FB-5F52-08AE7CFF6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Важно понимать</a:t>
            </a:r>
            <a:r>
              <a:rPr lang="en-US" dirty="0"/>
              <a:t>, </a:t>
            </a:r>
            <a:r>
              <a:rPr lang="ru-RU" dirty="0"/>
              <a:t>что существует два подхода в решении задач с использованием программирования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- Алгоритмический подход (четкие и понятные инструкции)</a:t>
            </a:r>
          </a:p>
          <a:p>
            <a:pPr marL="0" indent="0">
              <a:buNone/>
            </a:pPr>
            <a:r>
              <a:rPr lang="ru-RU" dirty="0"/>
              <a:t>- Подход на основе машинного обучения (обучение на данных)</a:t>
            </a:r>
          </a:p>
        </p:txBody>
      </p:sp>
    </p:spTree>
    <p:extLst>
      <p:ext uri="{BB962C8B-B14F-4D97-AF65-F5344CB8AC3E}">
        <p14:creationId xmlns:p14="http://schemas.microsoft.com/office/powerpoint/2010/main" val="312515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3E5B-0837-B2FC-72BC-81200C6F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70ED8-C989-ECE3-AE66-D144FA02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в чем смысл всего этого</a:t>
            </a:r>
            <a:r>
              <a:rPr lang="en-US" dirty="0"/>
              <a:t>?</a:t>
            </a:r>
            <a:r>
              <a:rPr lang="ru-RU" dirty="0"/>
              <a:t> </a:t>
            </a:r>
            <a:r>
              <a:rPr lang="en-US" dirty="0"/>
              <a:t>#2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762266-942A-670E-1360-187B27381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Алгоритмы полезны тогда</a:t>
            </a:r>
            <a:r>
              <a:rPr lang="en-US" dirty="0"/>
              <a:t>, </a:t>
            </a:r>
            <a:r>
              <a:rPr lang="ru-RU" dirty="0"/>
              <a:t>когда мы четко понимаем как сделать что-то и какая последовательность должна быть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ru-RU" dirty="0"/>
              <a:t>Рендер </a:t>
            </a:r>
            <a:r>
              <a:rPr lang="en-US" dirty="0"/>
              <a:t>DOM </a:t>
            </a:r>
            <a:r>
              <a:rPr lang="ru-RU" dirty="0"/>
              <a:t>дерева</a:t>
            </a:r>
          </a:p>
          <a:p>
            <a:pPr>
              <a:buFontTx/>
              <a:buChar char="-"/>
            </a:pPr>
            <a:r>
              <a:rPr lang="ru-RU" dirty="0"/>
              <a:t>Поиск в ширину</a:t>
            </a:r>
            <a:r>
              <a:rPr lang="en-US" dirty="0"/>
              <a:t>, </a:t>
            </a:r>
            <a:r>
              <a:rPr lang="ru-RU" dirty="0"/>
              <a:t>глубину</a:t>
            </a:r>
            <a:endParaRPr lang="en-US" dirty="0"/>
          </a:p>
          <a:p>
            <a:pPr>
              <a:buFontTx/>
              <a:buChar char="-"/>
            </a:pPr>
            <a:r>
              <a:rPr lang="ru-RU" dirty="0"/>
              <a:t>Различного рода сортировки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ru-RU" dirty="0" err="1"/>
              <a:t>итп</a:t>
            </a:r>
            <a:endParaRPr lang="ru-RU" dirty="0"/>
          </a:p>
          <a:p>
            <a:pPr>
              <a:buFontTx/>
              <a:buChar char="-"/>
            </a:pPr>
            <a:endParaRPr lang="ru-RU" dirty="0"/>
          </a:p>
          <a:p>
            <a:pPr marL="0" indent="0">
              <a:buNone/>
            </a:pPr>
            <a:r>
              <a:rPr lang="en-US" dirty="0"/>
              <a:t>Data-driver (</a:t>
            </a:r>
            <a:r>
              <a:rPr lang="ru-RU" dirty="0"/>
              <a:t>машинное обучение)</a:t>
            </a:r>
            <a:r>
              <a:rPr lang="en-US" dirty="0"/>
              <a:t>, </a:t>
            </a:r>
            <a:r>
              <a:rPr lang="ru-RU" dirty="0"/>
              <a:t>полезно тогда</a:t>
            </a:r>
            <a:r>
              <a:rPr lang="en-US" dirty="0"/>
              <a:t>, </a:t>
            </a:r>
            <a:r>
              <a:rPr lang="ru-RU" dirty="0"/>
              <a:t>когда мы четко не понимаем сущность решения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ru-RU" dirty="0"/>
              <a:t>Спам или не спам</a:t>
            </a:r>
          </a:p>
          <a:p>
            <a:pPr>
              <a:buFontTx/>
              <a:buChar char="-"/>
            </a:pPr>
            <a:r>
              <a:rPr lang="ru-RU" dirty="0"/>
              <a:t>Есть ли риски заболевания</a:t>
            </a:r>
          </a:p>
          <a:p>
            <a:pPr>
              <a:buFontTx/>
              <a:buChar char="-"/>
            </a:pPr>
            <a:r>
              <a:rPr lang="ru-RU" dirty="0"/>
              <a:t>Генерация решенных задач по предмету «машинное обучение» 😡</a:t>
            </a:r>
          </a:p>
        </p:txBody>
      </p:sp>
    </p:spTree>
    <p:extLst>
      <p:ext uri="{BB962C8B-B14F-4D97-AF65-F5344CB8AC3E}">
        <p14:creationId xmlns:p14="http://schemas.microsoft.com/office/powerpoint/2010/main" val="3510480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46555-3F5A-719D-A498-92EDC648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701F1C-ACB4-07FC-69FC-73C3F94F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D16A17-C85E-E15B-F747-352348087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История развития нейронауки начинается еще задолго до нашего рождения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ru-RU" dirty="0"/>
              <a:t>Алгоритмически </a:t>
            </a:r>
            <a:r>
              <a:rPr lang="ru-RU" dirty="0" err="1"/>
              <a:t>захардкодить</a:t>
            </a:r>
            <a:r>
              <a:rPr lang="ru-RU" dirty="0"/>
              <a:t> правила языков (1950-1980)</a:t>
            </a:r>
          </a:p>
          <a:p>
            <a:pPr>
              <a:buFontTx/>
              <a:buChar char="-"/>
            </a:pPr>
            <a:r>
              <a:rPr lang="ru-RU" dirty="0"/>
              <a:t>Статистический подход (</a:t>
            </a:r>
            <a:r>
              <a:rPr lang="en-US" dirty="0"/>
              <a:t>n-gram) (1980-2010)</a:t>
            </a:r>
          </a:p>
          <a:p>
            <a:pPr>
              <a:buFontTx/>
              <a:buChar char="-"/>
            </a:pPr>
            <a:r>
              <a:rPr lang="en-US" dirty="0"/>
              <a:t>Word embedding, </a:t>
            </a:r>
            <a:r>
              <a:rPr lang="ru-RU" dirty="0"/>
              <a:t>ранние нейросети (2000-2017)</a:t>
            </a:r>
          </a:p>
          <a:p>
            <a:pPr>
              <a:buFontTx/>
              <a:buChar char="-"/>
            </a:pPr>
            <a:r>
              <a:rPr lang="ru-RU" dirty="0"/>
              <a:t>Революция </a:t>
            </a:r>
            <a:r>
              <a:rPr lang="en-US" dirty="0"/>
              <a:t>transformers (2017)</a:t>
            </a:r>
          </a:p>
          <a:p>
            <a:pPr>
              <a:buFontTx/>
              <a:buChar char="-"/>
            </a:pPr>
            <a:r>
              <a:rPr lang="en-US" dirty="0"/>
              <a:t>LLM (2018 –&gt; now)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230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31F04-C768-BE5E-6260-D9050408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BF19B9-4102-70B1-B7A2-72D0EB17A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Алгоритмический </a:t>
            </a:r>
            <a:r>
              <a:rPr lang="ru-RU" sz="2000" dirty="0" err="1">
                <a:solidFill>
                  <a:schemeClr val="bg1">
                    <a:lumMod val="50000"/>
                  </a:schemeClr>
                </a:solidFill>
              </a:rPr>
              <a:t>хардкод</a:t>
            </a:r>
            <a:endParaRPr lang="ru-RU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25F7AE-F548-26EB-DD43-44AC0DEB8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Если мы </a:t>
            </a:r>
            <a:r>
              <a:rPr lang="ru-RU" dirty="0" err="1"/>
              <a:t>захардкодим</a:t>
            </a:r>
            <a:r>
              <a:rPr lang="ru-RU" dirty="0"/>
              <a:t> четкие слова </a:t>
            </a:r>
            <a:r>
              <a:rPr lang="en-US" dirty="0"/>
              <a:t>(good, bad)</a:t>
            </a:r>
            <a:r>
              <a:rPr lang="ru-RU" dirty="0"/>
              <a:t> привяжем это к цифрам</a:t>
            </a:r>
            <a:r>
              <a:rPr lang="en-US" dirty="0"/>
              <a:t>, </a:t>
            </a:r>
            <a:r>
              <a:rPr lang="ru-RU" dirty="0"/>
              <a:t>просуммируем</a:t>
            </a:r>
            <a:r>
              <a:rPr lang="en-US" dirty="0"/>
              <a:t>, </a:t>
            </a:r>
            <a:r>
              <a:rPr lang="ru-RU" dirty="0"/>
              <a:t>то получим </a:t>
            </a:r>
            <a:r>
              <a:rPr lang="ru-RU" b="1" dirty="0"/>
              <a:t>оценку тональности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Если мы воссоздадим правила и исключения русского языка</a:t>
            </a:r>
            <a:r>
              <a:rPr lang="en-US" dirty="0"/>
              <a:t>, </a:t>
            </a:r>
            <a:r>
              <a:rPr lang="ru-RU" dirty="0"/>
              <a:t>то получим </a:t>
            </a:r>
            <a:r>
              <a:rPr lang="en-US" dirty="0" err="1"/>
              <a:t>PyMorphy</a:t>
            </a:r>
            <a:r>
              <a:rPr lang="en-US" dirty="0"/>
              <a:t> (</a:t>
            </a:r>
            <a:r>
              <a:rPr lang="ru-RU" b="1" dirty="0"/>
              <a:t>для управления грамматикой</a:t>
            </a:r>
            <a:r>
              <a:rPr lang="ru-RU" dirty="0"/>
              <a:t>)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Если мы сделаем огромный новостной словарь</a:t>
            </a:r>
            <a:r>
              <a:rPr lang="en-US" dirty="0"/>
              <a:t>, </a:t>
            </a:r>
            <a:r>
              <a:rPr lang="ru-RU" dirty="0"/>
              <a:t>разметим сущности</a:t>
            </a:r>
            <a:r>
              <a:rPr lang="en-US" dirty="0"/>
              <a:t>, </a:t>
            </a:r>
            <a:r>
              <a:rPr lang="ru-RU" dirty="0"/>
              <a:t>то получим </a:t>
            </a:r>
            <a:r>
              <a:rPr lang="en-US" b="1" dirty="0" err="1"/>
              <a:t>SpaCy</a:t>
            </a:r>
            <a:r>
              <a:rPr lang="en-US" b="1" dirty="0"/>
              <a:t>, </a:t>
            </a:r>
            <a:r>
              <a:rPr lang="en-US" b="1" dirty="0" err="1"/>
              <a:t>natasha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440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A1662-6CF6-D8B3-A843-5BE7C5801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BFBDB-C2DE-5D48-8C9F-F840C523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Статистический подход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744ADE-A937-537F-734C-22E54D00A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Если к прошлым правилам</a:t>
            </a:r>
            <a:r>
              <a:rPr lang="en-US" dirty="0"/>
              <a:t>, </a:t>
            </a:r>
            <a:r>
              <a:rPr lang="ru-RU" dirty="0"/>
              <a:t>мы добавим расчёт корпуса предложений</a:t>
            </a:r>
            <a:r>
              <a:rPr lang="en-US" dirty="0"/>
              <a:t>, </a:t>
            </a:r>
            <a:r>
              <a:rPr lang="ru-RU" dirty="0"/>
              <a:t>частоты слов</a:t>
            </a:r>
            <a:r>
              <a:rPr lang="en-US" dirty="0"/>
              <a:t>, </a:t>
            </a:r>
            <a:r>
              <a:rPr lang="ru-RU" dirty="0"/>
              <a:t>вхождений</a:t>
            </a:r>
            <a:r>
              <a:rPr lang="en-US" dirty="0"/>
              <a:t>, </a:t>
            </a:r>
            <a:r>
              <a:rPr lang="ru-RU" dirty="0"/>
              <a:t>то</a:t>
            </a:r>
            <a:r>
              <a:rPr lang="en-US" dirty="0"/>
              <a:t>…</a:t>
            </a:r>
            <a:br>
              <a:rPr lang="en-US" dirty="0"/>
            </a:br>
            <a:br>
              <a:rPr lang="en-US" dirty="0"/>
            </a:br>
            <a:r>
              <a:rPr lang="ru-RU" dirty="0"/>
              <a:t>Я хочу выпить </a:t>
            </a:r>
            <a:r>
              <a:rPr lang="en-US" dirty="0"/>
              <a:t>_ (</a:t>
            </a:r>
            <a:r>
              <a:rPr lang="ru-RU" dirty="0"/>
              <a:t>чай</a:t>
            </a:r>
            <a:r>
              <a:rPr lang="en-US" dirty="0"/>
              <a:t>, </a:t>
            </a:r>
            <a:r>
              <a:rPr lang="ru-RU" dirty="0"/>
              <a:t>кофе</a:t>
            </a:r>
            <a:r>
              <a:rPr lang="en-US" dirty="0"/>
              <a:t>, ...)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То научимся предсказывать следующее слово на основе частот (Т9)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 итогу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Правила работают слишком сложно</a:t>
            </a:r>
          </a:p>
          <a:p>
            <a:pPr marL="0" indent="0">
              <a:buNone/>
            </a:pPr>
            <a:r>
              <a:rPr lang="ru-RU" dirty="0"/>
              <a:t>- Статистика работает лучше</a:t>
            </a:r>
            <a:r>
              <a:rPr lang="en-US" dirty="0"/>
              <a:t>, </a:t>
            </a:r>
            <a:r>
              <a:rPr lang="ru-RU" dirty="0"/>
              <a:t>но поверхностно</a:t>
            </a:r>
          </a:p>
        </p:txBody>
      </p:sp>
    </p:spTree>
    <p:extLst>
      <p:ext uri="{BB962C8B-B14F-4D97-AF65-F5344CB8AC3E}">
        <p14:creationId xmlns:p14="http://schemas.microsoft.com/office/powerpoint/2010/main" val="372421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FFB98-A014-7B56-CD7B-B94DC35D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E378E-C5DB-FB3C-0634-35024095A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embeddings</a:t>
            </a:r>
            <a:endParaRPr lang="ru-RU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4ED9E6-7DD7-0CAD-7DEF-358C07630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А что если</a:t>
            </a:r>
            <a:r>
              <a:rPr lang="en-US" dirty="0"/>
              <a:t>, </a:t>
            </a:r>
            <a:r>
              <a:rPr lang="ru-RU" dirty="0"/>
              <a:t>мы представим каждое слово как вектор</a:t>
            </a:r>
            <a:r>
              <a:rPr lang="en-US" dirty="0"/>
              <a:t>?</a:t>
            </a:r>
            <a:r>
              <a:rPr lang="ru-RU" dirty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 descr="PeerJ Improving word embeddings in Portuguese: increasing accuracy while  reducing the size of the corpus">
            <a:extLst>
              <a:ext uri="{FF2B5EF4-FFF2-40B4-BE49-F238E27FC236}">
                <a16:creationId xmlns:a16="http://schemas.microsoft.com/office/drawing/2014/main" id="{4F56933B-5AD2-4A02-0963-FBFA7D92E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483" y="2638721"/>
            <a:ext cx="4152681" cy="297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4D4C62-20CA-0D3E-EAE2-F5953A25E243}"/>
              </a:ext>
            </a:extLst>
          </p:cNvPr>
          <p:cNvSpPr txBox="1"/>
          <p:nvPr/>
        </p:nvSpPr>
        <p:spPr>
          <a:xfrm>
            <a:off x="3635483" y="5616115"/>
            <a:ext cx="4152681" cy="374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А что мы научились делать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018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44D27-C809-1138-8EBA-3E2EE8FF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16A15A88-001A-4EEF-8984-D87E6435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53978-27BE-6E1F-EFA4-2C4A5F28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1367673"/>
            <a:ext cx="6124576" cy="266550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7200">
                <a:solidFill>
                  <a:schemeClr val="bg1"/>
                </a:solidFill>
              </a:rPr>
              <a:t>История LLM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transformers</a:t>
            </a:r>
          </a:p>
        </p:txBody>
      </p:sp>
      <p:pic>
        <p:nvPicPr>
          <p:cNvPr id="5122" name="Picture 2" descr="Трансформеры: Начало мультфильм, 2024, дата выхода трейлеры актеры отзывы  описание на Кинопоиске">
            <a:extLst>
              <a:ext uri="{FF2B5EF4-FFF2-40B4-BE49-F238E27FC236}">
                <a16:creationId xmlns:a16="http://schemas.microsoft.com/office/drawing/2014/main" id="{D8B863A7-62CD-8929-268A-3AFB29B5EB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9"/>
          <a:stretch>
            <a:fillRect/>
          </a:stretch>
        </p:blipFill>
        <p:spPr bwMode="auto">
          <a:xfrm>
            <a:off x="1" y="10"/>
            <a:ext cx="4551219" cy="6857990"/>
          </a:xfrm>
          <a:custGeom>
            <a:avLst/>
            <a:gdLst/>
            <a:ahLst/>
            <a:cxnLst/>
            <a:rect l="l" t="t" r="r" b="b"/>
            <a:pathLst>
              <a:path w="4551219" h="6858000">
                <a:moveTo>
                  <a:pt x="4194211" y="6564619"/>
                </a:moveTo>
                <a:lnTo>
                  <a:pt x="4194211" y="6564620"/>
                </a:lnTo>
                <a:cubicBezTo>
                  <a:pt x="4204498" y="6575478"/>
                  <a:pt x="4210595" y="6582146"/>
                  <a:pt x="4216690" y="6588625"/>
                </a:cubicBezTo>
                <a:lnTo>
                  <a:pt x="4233312" y="6625224"/>
                </a:lnTo>
                <a:lnTo>
                  <a:pt x="4226218" y="6662539"/>
                </a:lnTo>
                <a:lnTo>
                  <a:pt x="4226217" y="6662540"/>
                </a:lnTo>
                <a:lnTo>
                  <a:pt x="4226216" y="6662543"/>
                </a:lnTo>
                <a:lnTo>
                  <a:pt x="4214767" y="6683026"/>
                </a:lnTo>
                <a:lnTo>
                  <a:pt x="4211619" y="6702975"/>
                </a:lnTo>
                <a:lnTo>
                  <a:pt x="4211619" y="6702976"/>
                </a:lnTo>
                <a:cubicBezTo>
                  <a:pt x="4212024" y="6716168"/>
                  <a:pt x="4217168" y="6729218"/>
                  <a:pt x="4225455" y="6742552"/>
                </a:cubicBezTo>
                <a:lnTo>
                  <a:pt x="4225456" y="6742554"/>
                </a:lnTo>
                <a:lnTo>
                  <a:pt x="4244933" y="6812061"/>
                </a:lnTo>
                <a:lnTo>
                  <a:pt x="4244933" y="6812063"/>
                </a:lnTo>
                <a:lnTo>
                  <a:pt x="4244933" y="6812062"/>
                </a:lnTo>
                <a:lnTo>
                  <a:pt x="4244933" y="6812061"/>
                </a:lnTo>
                <a:lnTo>
                  <a:pt x="4240159" y="6776799"/>
                </a:lnTo>
                <a:lnTo>
                  <a:pt x="4225456" y="6742554"/>
                </a:lnTo>
                <a:lnTo>
                  <a:pt x="4225455" y="6742551"/>
                </a:lnTo>
                <a:lnTo>
                  <a:pt x="4211619" y="6702975"/>
                </a:lnTo>
                <a:lnTo>
                  <a:pt x="4226216" y="6662543"/>
                </a:lnTo>
                <a:lnTo>
                  <a:pt x="4226217" y="6662541"/>
                </a:lnTo>
                <a:lnTo>
                  <a:pt x="4226218" y="6662539"/>
                </a:lnTo>
                <a:lnTo>
                  <a:pt x="4233301" y="6645551"/>
                </a:lnTo>
                <a:lnTo>
                  <a:pt x="4233312" y="6625224"/>
                </a:lnTo>
                <a:lnTo>
                  <a:pt x="4233312" y="6625223"/>
                </a:lnTo>
                <a:cubicBezTo>
                  <a:pt x="4231216" y="6611340"/>
                  <a:pt x="4225168" y="6597577"/>
                  <a:pt x="4216690" y="6588624"/>
                </a:cubicBezTo>
                <a:close/>
                <a:moveTo>
                  <a:pt x="4274532" y="6438980"/>
                </a:moveTo>
                <a:lnTo>
                  <a:pt x="4254602" y="6463839"/>
                </a:lnTo>
                <a:lnTo>
                  <a:pt x="4254600" y="6463848"/>
                </a:lnTo>
                <a:lnTo>
                  <a:pt x="4240803" y="6513011"/>
                </a:lnTo>
                <a:lnTo>
                  <a:pt x="4221998" y="6546193"/>
                </a:lnTo>
                <a:lnTo>
                  <a:pt x="4221998" y="6546194"/>
                </a:lnTo>
                <a:lnTo>
                  <a:pt x="4238336" y="6521803"/>
                </a:lnTo>
                <a:lnTo>
                  <a:pt x="4240803" y="6513011"/>
                </a:lnTo>
                <a:lnTo>
                  <a:pt x="4243614" y="6508051"/>
                </a:lnTo>
                <a:lnTo>
                  <a:pt x="4254600" y="6463848"/>
                </a:lnTo>
                <a:lnTo>
                  <a:pt x="4254602" y="6463840"/>
                </a:lnTo>
                <a:cubicBezTo>
                  <a:pt x="4257553" y="6451649"/>
                  <a:pt x="4265030" y="6444076"/>
                  <a:pt x="4274532" y="6438980"/>
                </a:cubicBezTo>
                <a:close/>
                <a:moveTo>
                  <a:pt x="4360506" y="6365203"/>
                </a:moveTo>
                <a:lnTo>
                  <a:pt x="4359224" y="6387909"/>
                </a:lnTo>
                <a:lnTo>
                  <a:pt x="4357461" y="6391548"/>
                </a:lnTo>
                <a:lnTo>
                  <a:pt x="4349806" y="6407331"/>
                </a:lnTo>
                <a:lnTo>
                  <a:pt x="4349806" y="6407332"/>
                </a:lnTo>
                <a:lnTo>
                  <a:pt x="4357461" y="6391548"/>
                </a:lnTo>
                <a:lnTo>
                  <a:pt x="4359225" y="6387909"/>
                </a:lnTo>
                <a:close/>
                <a:moveTo>
                  <a:pt x="4121437" y="4221390"/>
                </a:moveTo>
                <a:lnTo>
                  <a:pt x="4121437" y="4221391"/>
                </a:lnTo>
                <a:cubicBezTo>
                  <a:pt x="4122199" y="4232060"/>
                  <a:pt x="4122389" y="4243872"/>
                  <a:pt x="4127153" y="4253014"/>
                </a:cubicBezTo>
                <a:cubicBezTo>
                  <a:pt x="4139346" y="4277401"/>
                  <a:pt x="4154966" y="4300070"/>
                  <a:pt x="4166969" y="4324645"/>
                </a:cubicBezTo>
                <a:lnTo>
                  <a:pt x="4175923" y="4363890"/>
                </a:lnTo>
                <a:lnTo>
                  <a:pt x="4175161" y="4482003"/>
                </a:lnTo>
                <a:cubicBezTo>
                  <a:pt x="4172493" y="4546775"/>
                  <a:pt x="4171921" y="4612499"/>
                  <a:pt x="4115151" y="4659173"/>
                </a:cubicBezTo>
                <a:cubicBezTo>
                  <a:pt x="4110579" y="4662985"/>
                  <a:pt x="4107911" y="4671175"/>
                  <a:pt x="4107149" y="4677654"/>
                </a:cubicBezTo>
                <a:cubicBezTo>
                  <a:pt x="4103530" y="4707563"/>
                  <a:pt x="4103148" y="4738234"/>
                  <a:pt x="4097242" y="4767763"/>
                </a:cubicBezTo>
                <a:cubicBezTo>
                  <a:pt x="4094861" y="4779574"/>
                  <a:pt x="4094052" y="4790386"/>
                  <a:pt x="4095933" y="4800482"/>
                </a:cubicBezTo>
                <a:lnTo>
                  <a:pt x="4095933" y="4800483"/>
                </a:lnTo>
                <a:cubicBezTo>
                  <a:pt x="4097814" y="4810580"/>
                  <a:pt x="4102387" y="4819963"/>
                  <a:pt x="4110769" y="4828916"/>
                </a:cubicBezTo>
                <a:lnTo>
                  <a:pt x="4132950" y="4863342"/>
                </a:lnTo>
                <a:lnTo>
                  <a:pt x="4140479" y="4889274"/>
                </a:lnTo>
                <a:lnTo>
                  <a:pt x="4138774" y="4912167"/>
                </a:lnTo>
                <a:cubicBezTo>
                  <a:pt x="4137059" y="4919977"/>
                  <a:pt x="4136702" y="4927121"/>
                  <a:pt x="4137372" y="4933803"/>
                </a:cubicBezTo>
                <a:lnTo>
                  <a:pt x="4137372" y="4933804"/>
                </a:lnTo>
                <a:lnTo>
                  <a:pt x="4142131" y="4952672"/>
                </a:lnTo>
                <a:lnTo>
                  <a:pt x="4144924" y="4957453"/>
                </a:lnTo>
                <a:lnTo>
                  <a:pt x="4146202" y="4961455"/>
                </a:lnTo>
                <a:cubicBezTo>
                  <a:pt x="4150713" y="4970096"/>
                  <a:pt x="4156419" y="4978393"/>
                  <a:pt x="4162206" y="4987037"/>
                </a:cubicBezTo>
                <a:cubicBezTo>
                  <a:pt x="4173445" y="5003801"/>
                  <a:pt x="4187543" y="5022852"/>
                  <a:pt x="4188685" y="5041521"/>
                </a:cubicBezTo>
                <a:cubicBezTo>
                  <a:pt x="4189304" y="5052095"/>
                  <a:pt x="4192222" y="5062299"/>
                  <a:pt x="4195901" y="5072375"/>
                </a:cubicBezTo>
                <a:lnTo>
                  <a:pt x="4201805" y="5087442"/>
                </a:lnTo>
                <a:lnTo>
                  <a:pt x="4214832" y="5133219"/>
                </a:lnTo>
                <a:lnTo>
                  <a:pt x="4214833" y="5133224"/>
                </a:lnTo>
                <a:lnTo>
                  <a:pt x="4208118" y="5166112"/>
                </a:lnTo>
                <a:lnTo>
                  <a:pt x="4208118" y="5166113"/>
                </a:lnTo>
                <a:cubicBezTo>
                  <a:pt x="4207356" y="5167637"/>
                  <a:pt x="4207928" y="5169780"/>
                  <a:pt x="4208809" y="5172090"/>
                </a:cubicBezTo>
                <a:lnTo>
                  <a:pt x="4211356" y="5179067"/>
                </a:lnTo>
                <a:cubicBezTo>
                  <a:pt x="4214976" y="5196594"/>
                  <a:pt x="4215024" y="5213597"/>
                  <a:pt x="4211190" y="5229433"/>
                </a:cubicBezTo>
                <a:lnTo>
                  <a:pt x="4200644" y="5248928"/>
                </a:lnTo>
                <a:lnTo>
                  <a:pt x="4187733" y="5272795"/>
                </a:lnTo>
                <a:cubicBezTo>
                  <a:pt x="4176088" y="5285440"/>
                  <a:pt x="4168382" y="5298594"/>
                  <a:pt x="4163830" y="5312287"/>
                </a:cubicBezTo>
                <a:lnTo>
                  <a:pt x="4162774" y="5321350"/>
                </a:lnTo>
                <a:lnTo>
                  <a:pt x="4160300" y="5326162"/>
                </a:lnTo>
                <a:lnTo>
                  <a:pt x="4158854" y="5355013"/>
                </a:lnTo>
                <a:lnTo>
                  <a:pt x="4158854" y="5355014"/>
                </a:lnTo>
                <a:cubicBezTo>
                  <a:pt x="4159503" y="5364882"/>
                  <a:pt x="4161206" y="5375002"/>
                  <a:pt x="4163730" y="5385384"/>
                </a:cubicBezTo>
                <a:cubicBezTo>
                  <a:pt x="4166969" y="5398721"/>
                  <a:pt x="4169255" y="5412057"/>
                  <a:pt x="4171921" y="5425582"/>
                </a:cubicBezTo>
                <a:cubicBezTo>
                  <a:pt x="4175731" y="5443870"/>
                  <a:pt x="4179733" y="5462351"/>
                  <a:pt x="4183543" y="5480637"/>
                </a:cubicBezTo>
                <a:lnTo>
                  <a:pt x="4188067" y="5507667"/>
                </a:lnTo>
                <a:lnTo>
                  <a:pt x="4177448" y="5531691"/>
                </a:lnTo>
                <a:lnTo>
                  <a:pt x="4177447" y="5531692"/>
                </a:lnTo>
                <a:cubicBezTo>
                  <a:pt x="4170398" y="5537599"/>
                  <a:pt x="4167206" y="5542648"/>
                  <a:pt x="4167302" y="5547577"/>
                </a:cubicBezTo>
                <a:lnTo>
                  <a:pt x="4167302" y="5547578"/>
                </a:lnTo>
                <a:cubicBezTo>
                  <a:pt x="4167397" y="5552507"/>
                  <a:pt x="4170779" y="5557317"/>
                  <a:pt x="4176875" y="5562746"/>
                </a:cubicBezTo>
                <a:cubicBezTo>
                  <a:pt x="4219548" y="5600467"/>
                  <a:pt x="4246219" y="5646189"/>
                  <a:pt x="4248123" y="5704483"/>
                </a:cubicBezTo>
                <a:cubicBezTo>
                  <a:pt x="4248505" y="5716485"/>
                  <a:pt x="4251171" y="5728678"/>
                  <a:pt x="4254029" y="5740488"/>
                </a:cubicBezTo>
                <a:cubicBezTo>
                  <a:pt x="4255744" y="5747728"/>
                  <a:pt x="4257650" y="5756493"/>
                  <a:pt x="4262794" y="5760873"/>
                </a:cubicBezTo>
                <a:cubicBezTo>
                  <a:pt x="4302037" y="5794974"/>
                  <a:pt x="4329280" y="5837457"/>
                  <a:pt x="4351189" y="5883751"/>
                </a:cubicBezTo>
                <a:lnTo>
                  <a:pt x="4351191" y="5883755"/>
                </a:lnTo>
                <a:lnTo>
                  <a:pt x="4369094" y="5935945"/>
                </a:lnTo>
                <a:lnTo>
                  <a:pt x="4369096" y="5935949"/>
                </a:lnTo>
                <a:lnTo>
                  <a:pt x="4365476" y="5993289"/>
                </a:lnTo>
                <a:lnTo>
                  <a:pt x="4365475" y="5993290"/>
                </a:lnTo>
                <a:cubicBezTo>
                  <a:pt x="4364334" y="6004530"/>
                  <a:pt x="4364524" y="6017484"/>
                  <a:pt x="4358999" y="6026439"/>
                </a:cubicBezTo>
                <a:cubicBezTo>
                  <a:pt x="4341662" y="6054824"/>
                  <a:pt x="4322994" y="6082257"/>
                  <a:pt x="4302799" y="6108737"/>
                </a:cubicBezTo>
                <a:cubicBezTo>
                  <a:pt x="4294131" y="6120073"/>
                  <a:pt x="4289178" y="6126883"/>
                  <a:pt x="4289107" y="6133313"/>
                </a:cubicBezTo>
                <a:lnTo>
                  <a:pt x="4289107" y="6133314"/>
                </a:lnTo>
                <a:lnTo>
                  <a:pt x="4292807" y="6143189"/>
                </a:lnTo>
                <a:lnTo>
                  <a:pt x="4304703" y="6155599"/>
                </a:lnTo>
                <a:lnTo>
                  <a:pt x="4304706" y="6155602"/>
                </a:lnTo>
                <a:cubicBezTo>
                  <a:pt x="4326994" y="6175797"/>
                  <a:pt x="4338614" y="6200944"/>
                  <a:pt x="4343376" y="6228756"/>
                </a:cubicBezTo>
                <a:lnTo>
                  <a:pt x="4360713" y="6361539"/>
                </a:lnTo>
                <a:lnTo>
                  <a:pt x="4360713" y="6361538"/>
                </a:lnTo>
                <a:cubicBezTo>
                  <a:pt x="4357093" y="6317150"/>
                  <a:pt x="4350808" y="6272763"/>
                  <a:pt x="4343376" y="6228755"/>
                </a:cubicBezTo>
                <a:cubicBezTo>
                  <a:pt x="4338614" y="6200943"/>
                  <a:pt x="4326994" y="6175796"/>
                  <a:pt x="4304706" y="6155601"/>
                </a:cubicBezTo>
                <a:lnTo>
                  <a:pt x="4304703" y="6155599"/>
                </a:lnTo>
                <a:lnTo>
                  <a:pt x="4289107" y="6133314"/>
                </a:lnTo>
                <a:lnTo>
                  <a:pt x="4302799" y="6108738"/>
                </a:lnTo>
                <a:cubicBezTo>
                  <a:pt x="4322994" y="6082258"/>
                  <a:pt x="4341662" y="6054825"/>
                  <a:pt x="4358999" y="6026440"/>
                </a:cubicBezTo>
                <a:cubicBezTo>
                  <a:pt x="4364524" y="6017485"/>
                  <a:pt x="4364334" y="6004531"/>
                  <a:pt x="4365475" y="5993291"/>
                </a:cubicBezTo>
                <a:lnTo>
                  <a:pt x="4365476" y="5993289"/>
                </a:lnTo>
                <a:lnTo>
                  <a:pt x="4368929" y="5964476"/>
                </a:lnTo>
                <a:lnTo>
                  <a:pt x="4369096" y="5935949"/>
                </a:lnTo>
                <a:lnTo>
                  <a:pt x="4369096" y="5935948"/>
                </a:lnTo>
                <a:lnTo>
                  <a:pt x="4369094" y="5935945"/>
                </a:lnTo>
                <a:lnTo>
                  <a:pt x="4362214" y="5909350"/>
                </a:lnTo>
                <a:lnTo>
                  <a:pt x="4351191" y="5883755"/>
                </a:lnTo>
                <a:lnTo>
                  <a:pt x="4351189" y="5883750"/>
                </a:lnTo>
                <a:cubicBezTo>
                  <a:pt x="4329280" y="5837456"/>
                  <a:pt x="4302037" y="5794973"/>
                  <a:pt x="4262794" y="5760872"/>
                </a:cubicBezTo>
                <a:cubicBezTo>
                  <a:pt x="4257650" y="5756492"/>
                  <a:pt x="4255744" y="5747727"/>
                  <a:pt x="4254029" y="5740487"/>
                </a:cubicBezTo>
                <a:cubicBezTo>
                  <a:pt x="4251171" y="5728677"/>
                  <a:pt x="4248505" y="5716484"/>
                  <a:pt x="4248123" y="5704482"/>
                </a:cubicBezTo>
                <a:cubicBezTo>
                  <a:pt x="4246219" y="5646188"/>
                  <a:pt x="4219548" y="5600466"/>
                  <a:pt x="4176875" y="5562745"/>
                </a:cubicBezTo>
                <a:lnTo>
                  <a:pt x="4167302" y="5547577"/>
                </a:lnTo>
                <a:lnTo>
                  <a:pt x="4177447" y="5531693"/>
                </a:lnTo>
                <a:lnTo>
                  <a:pt x="4177448" y="5531691"/>
                </a:lnTo>
                <a:lnTo>
                  <a:pt x="4185847" y="5520421"/>
                </a:lnTo>
                <a:lnTo>
                  <a:pt x="4188067" y="5507667"/>
                </a:lnTo>
                <a:lnTo>
                  <a:pt x="4188067" y="5507666"/>
                </a:lnTo>
                <a:cubicBezTo>
                  <a:pt x="4188020" y="5498831"/>
                  <a:pt x="4185448" y="5489496"/>
                  <a:pt x="4183543" y="5480636"/>
                </a:cubicBezTo>
                <a:cubicBezTo>
                  <a:pt x="4179733" y="5462350"/>
                  <a:pt x="4175731" y="5443869"/>
                  <a:pt x="4171921" y="5425581"/>
                </a:cubicBezTo>
                <a:cubicBezTo>
                  <a:pt x="4169255" y="5412056"/>
                  <a:pt x="4166969" y="5398720"/>
                  <a:pt x="4163730" y="5385383"/>
                </a:cubicBezTo>
                <a:lnTo>
                  <a:pt x="4158854" y="5355013"/>
                </a:lnTo>
                <a:lnTo>
                  <a:pt x="4162774" y="5321350"/>
                </a:lnTo>
                <a:lnTo>
                  <a:pt x="4187733" y="5272796"/>
                </a:lnTo>
                <a:lnTo>
                  <a:pt x="4200644" y="5248928"/>
                </a:lnTo>
                <a:lnTo>
                  <a:pt x="4211191" y="5229432"/>
                </a:lnTo>
                <a:lnTo>
                  <a:pt x="4211356" y="5179067"/>
                </a:lnTo>
                <a:lnTo>
                  <a:pt x="4211356" y="5179066"/>
                </a:lnTo>
                <a:cubicBezTo>
                  <a:pt x="4210880" y="5176875"/>
                  <a:pt x="4209690" y="5174399"/>
                  <a:pt x="4208809" y="5172089"/>
                </a:cubicBezTo>
                <a:lnTo>
                  <a:pt x="4208118" y="5166113"/>
                </a:lnTo>
                <a:lnTo>
                  <a:pt x="4214833" y="5133224"/>
                </a:lnTo>
                <a:lnTo>
                  <a:pt x="4214833" y="5133223"/>
                </a:lnTo>
                <a:lnTo>
                  <a:pt x="4214832" y="5133219"/>
                </a:lnTo>
                <a:lnTo>
                  <a:pt x="4207690" y="5102460"/>
                </a:lnTo>
                <a:lnTo>
                  <a:pt x="4201805" y="5087442"/>
                </a:lnTo>
                <a:lnTo>
                  <a:pt x="4201799" y="5087422"/>
                </a:lnTo>
                <a:cubicBezTo>
                  <a:pt x="4195713" y="5072410"/>
                  <a:pt x="4189614" y="5057380"/>
                  <a:pt x="4188685" y="5041520"/>
                </a:cubicBezTo>
                <a:cubicBezTo>
                  <a:pt x="4187543" y="5022851"/>
                  <a:pt x="4173445" y="5003800"/>
                  <a:pt x="4162206" y="4987036"/>
                </a:cubicBezTo>
                <a:lnTo>
                  <a:pt x="4144924" y="4957453"/>
                </a:lnTo>
                <a:lnTo>
                  <a:pt x="4137372" y="4933804"/>
                </a:lnTo>
                <a:lnTo>
                  <a:pt x="4138774" y="4912168"/>
                </a:lnTo>
                <a:cubicBezTo>
                  <a:pt x="4140536" y="4904357"/>
                  <a:pt x="4141048" y="4896713"/>
                  <a:pt x="4140479" y="4889275"/>
                </a:cubicBezTo>
                <a:lnTo>
                  <a:pt x="4140479" y="4889274"/>
                </a:lnTo>
                <a:lnTo>
                  <a:pt x="4135701" y="4867613"/>
                </a:lnTo>
                <a:lnTo>
                  <a:pt x="4132950" y="4863342"/>
                </a:lnTo>
                <a:lnTo>
                  <a:pt x="4131200" y="4857316"/>
                </a:lnTo>
                <a:cubicBezTo>
                  <a:pt x="4126057" y="4847213"/>
                  <a:pt x="4119056" y="4837702"/>
                  <a:pt x="4110769" y="4828915"/>
                </a:cubicBezTo>
                <a:lnTo>
                  <a:pt x="4095933" y="4800482"/>
                </a:lnTo>
                <a:lnTo>
                  <a:pt x="4097242" y="4767764"/>
                </a:lnTo>
                <a:cubicBezTo>
                  <a:pt x="4103148" y="4738235"/>
                  <a:pt x="4103530" y="4707564"/>
                  <a:pt x="4107149" y="4677655"/>
                </a:cubicBezTo>
                <a:cubicBezTo>
                  <a:pt x="4107911" y="4671176"/>
                  <a:pt x="4110579" y="4662986"/>
                  <a:pt x="4115151" y="4659174"/>
                </a:cubicBezTo>
                <a:cubicBezTo>
                  <a:pt x="4171921" y="4612500"/>
                  <a:pt x="4172493" y="4546776"/>
                  <a:pt x="4175161" y="4482004"/>
                </a:cubicBezTo>
                <a:cubicBezTo>
                  <a:pt x="4176875" y="4442761"/>
                  <a:pt x="4176875" y="4403325"/>
                  <a:pt x="4175923" y="4363890"/>
                </a:cubicBezTo>
                <a:lnTo>
                  <a:pt x="4175923" y="4363889"/>
                </a:lnTo>
                <a:cubicBezTo>
                  <a:pt x="4175731" y="4350553"/>
                  <a:pt x="4172683" y="4336456"/>
                  <a:pt x="4166969" y="4324644"/>
                </a:cubicBezTo>
                <a:cubicBezTo>
                  <a:pt x="4154966" y="4300069"/>
                  <a:pt x="4139346" y="4277400"/>
                  <a:pt x="4127153" y="4253013"/>
                </a:cubicBezTo>
                <a:close/>
                <a:moveTo>
                  <a:pt x="4190328" y="2836171"/>
                </a:moveTo>
                <a:lnTo>
                  <a:pt x="4181637" y="2848792"/>
                </a:lnTo>
                <a:cubicBezTo>
                  <a:pt x="4176637" y="2865009"/>
                  <a:pt x="4170779" y="2881306"/>
                  <a:pt x="4166033" y="2897784"/>
                </a:cubicBezTo>
                <a:lnTo>
                  <a:pt x="4165004" y="2903549"/>
                </a:lnTo>
                <a:lnTo>
                  <a:pt x="4161730" y="2914327"/>
                </a:lnTo>
                <a:lnTo>
                  <a:pt x="4157099" y="2947858"/>
                </a:lnTo>
                <a:lnTo>
                  <a:pt x="4157098" y="2947861"/>
                </a:lnTo>
                <a:lnTo>
                  <a:pt x="4157098" y="2947862"/>
                </a:lnTo>
                <a:cubicBezTo>
                  <a:pt x="4156729" y="2959156"/>
                  <a:pt x="4157729" y="2970575"/>
                  <a:pt x="4160682" y="2982148"/>
                </a:cubicBezTo>
                <a:lnTo>
                  <a:pt x="4172375" y="3077401"/>
                </a:lnTo>
                <a:lnTo>
                  <a:pt x="4159920" y="3172653"/>
                </a:lnTo>
                <a:cubicBezTo>
                  <a:pt x="4134011" y="3276479"/>
                  <a:pt x="4106579" y="3380304"/>
                  <a:pt x="4112293" y="3489466"/>
                </a:cubicBezTo>
                <a:cubicBezTo>
                  <a:pt x="4113245" y="3507562"/>
                  <a:pt x="4101624" y="3529089"/>
                  <a:pt x="4090194" y="3544712"/>
                </a:cubicBezTo>
                <a:cubicBezTo>
                  <a:pt x="4079336" y="3559667"/>
                  <a:pt x="4073477" y="3566811"/>
                  <a:pt x="4072572" y="3574407"/>
                </a:cubicBezTo>
                <a:lnTo>
                  <a:pt x="4072572" y="3574408"/>
                </a:lnTo>
                <a:cubicBezTo>
                  <a:pt x="4071667" y="3582004"/>
                  <a:pt x="4075716" y="3590053"/>
                  <a:pt x="4084670" y="3606817"/>
                </a:cubicBezTo>
                <a:cubicBezTo>
                  <a:pt x="4089052" y="3614819"/>
                  <a:pt x="4091718" y="3624725"/>
                  <a:pt x="4098196" y="3630632"/>
                </a:cubicBezTo>
                <a:lnTo>
                  <a:pt x="4115925" y="3654415"/>
                </a:lnTo>
                <a:lnTo>
                  <a:pt x="4118836" y="3665923"/>
                </a:lnTo>
                <a:lnTo>
                  <a:pt x="4122437" y="3680163"/>
                </a:lnTo>
                <a:lnTo>
                  <a:pt x="4118389" y="3734836"/>
                </a:lnTo>
                <a:lnTo>
                  <a:pt x="4118389" y="3734837"/>
                </a:lnTo>
                <a:cubicBezTo>
                  <a:pt x="4117437" y="3741315"/>
                  <a:pt x="4116103" y="3749125"/>
                  <a:pt x="4118771" y="3754652"/>
                </a:cubicBezTo>
                <a:lnTo>
                  <a:pt x="4125128" y="3789775"/>
                </a:lnTo>
                <a:lnTo>
                  <a:pt x="4110197" y="3822471"/>
                </a:lnTo>
                <a:cubicBezTo>
                  <a:pt x="4103149" y="3831901"/>
                  <a:pt x="4097529" y="3842045"/>
                  <a:pt x="4095862" y="3852618"/>
                </a:cubicBezTo>
                <a:lnTo>
                  <a:pt x="4095862" y="3852619"/>
                </a:lnTo>
                <a:lnTo>
                  <a:pt x="4096642" y="3868763"/>
                </a:lnTo>
                <a:lnTo>
                  <a:pt x="4105245" y="3885336"/>
                </a:lnTo>
                <a:lnTo>
                  <a:pt x="4105245" y="3885338"/>
                </a:lnTo>
                <a:cubicBezTo>
                  <a:pt x="4114961" y="3897721"/>
                  <a:pt x="4122367" y="3910318"/>
                  <a:pt x="4127626" y="3923124"/>
                </a:cubicBezTo>
                <a:lnTo>
                  <a:pt x="4137130" y="3962159"/>
                </a:lnTo>
                <a:lnTo>
                  <a:pt x="4121438" y="4043837"/>
                </a:lnTo>
                <a:lnTo>
                  <a:pt x="4121437" y="4043838"/>
                </a:lnTo>
                <a:cubicBezTo>
                  <a:pt x="4112674" y="4063841"/>
                  <a:pt x="4107292" y="4083701"/>
                  <a:pt x="4106316" y="4103824"/>
                </a:cubicBezTo>
                <a:lnTo>
                  <a:pt x="4106316" y="4103825"/>
                </a:lnTo>
                <a:lnTo>
                  <a:pt x="4108283" y="4134255"/>
                </a:lnTo>
                <a:lnTo>
                  <a:pt x="4117627" y="4165381"/>
                </a:lnTo>
                <a:lnTo>
                  <a:pt x="4117627" y="4165383"/>
                </a:lnTo>
                <a:lnTo>
                  <a:pt x="4121532" y="4192387"/>
                </a:lnTo>
                <a:lnTo>
                  <a:pt x="4121532" y="4192386"/>
                </a:lnTo>
                <a:cubicBezTo>
                  <a:pt x="4121628" y="4182766"/>
                  <a:pt x="4121056" y="4173479"/>
                  <a:pt x="4117627" y="4165382"/>
                </a:cubicBezTo>
                <a:lnTo>
                  <a:pt x="4117627" y="4165381"/>
                </a:lnTo>
                <a:lnTo>
                  <a:pt x="4106316" y="4103825"/>
                </a:lnTo>
                <a:lnTo>
                  <a:pt x="4121437" y="4043839"/>
                </a:lnTo>
                <a:lnTo>
                  <a:pt x="4121438" y="4043837"/>
                </a:lnTo>
                <a:lnTo>
                  <a:pt x="4134740" y="4002409"/>
                </a:lnTo>
                <a:lnTo>
                  <a:pt x="4137130" y="3962159"/>
                </a:lnTo>
                <a:lnTo>
                  <a:pt x="4137130" y="3962158"/>
                </a:lnTo>
                <a:cubicBezTo>
                  <a:pt x="4134868" y="3935726"/>
                  <a:pt x="4124677" y="3910103"/>
                  <a:pt x="4105245" y="3885337"/>
                </a:cubicBezTo>
                <a:lnTo>
                  <a:pt x="4105245" y="3885336"/>
                </a:lnTo>
                <a:lnTo>
                  <a:pt x="4095862" y="3852619"/>
                </a:lnTo>
                <a:lnTo>
                  <a:pt x="4110197" y="3822472"/>
                </a:lnTo>
                <a:cubicBezTo>
                  <a:pt x="4118389" y="3811613"/>
                  <a:pt x="4123533" y="3800896"/>
                  <a:pt x="4125128" y="3789776"/>
                </a:cubicBezTo>
                <a:lnTo>
                  <a:pt x="4125128" y="3789775"/>
                </a:lnTo>
                <a:cubicBezTo>
                  <a:pt x="4126724" y="3778654"/>
                  <a:pt x="4124771" y="3767129"/>
                  <a:pt x="4118771" y="3754651"/>
                </a:cubicBezTo>
                <a:lnTo>
                  <a:pt x="4118389" y="3734837"/>
                </a:lnTo>
                <a:lnTo>
                  <a:pt x="4122437" y="3680163"/>
                </a:lnTo>
                <a:lnTo>
                  <a:pt x="4122437" y="3680162"/>
                </a:lnTo>
                <a:lnTo>
                  <a:pt x="4118836" y="3665923"/>
                </a:lnTo>
                <a:lnTo>
                  <a:pt x="4115925" y="3654415"/>
                </a:lnTo>
                <a:lnTo>
                  <a:pt x="4115925" y="3654415"/>
                </a:lnTo>
                <a:lnTo>
                  <a:pt x="4115925" y="3654415"/>
                </a:lnTo>
                <a:cubicBezTo>
                  <a:pt x="4112115" y="3646122"/>
                  <a:pt x="4106436" y="3638156"/>
                  <a:pt x="4098196" y="3630631"/>
                </a:cubicBezTo>
                <a:cubicBezTo>
                  <a:pt x="4091718" y="3624724"/>
                  <a:pt x="4089052" y="3614818"/>
                  <a:pt x="4084670" y="3606816"/>
                </a:cubicBezTo>
                <a:cubicBezTo>
                  <a:pt x="4080193" y="3598434"/>
                  <a:pt x="4076942" y="3592231"/>
                  <a:pt x="4074924" y="3587173"/>
                </a:cubicBezTo>
                <a:lnTo>
                  <a:pt x="4072572" y="3574407"/>
                </a:lnTo>
                <a:lnTo>
                  <a:pt x="4077651" y="3562320"/>
                </a:lnTo>
                <a:cubicBezTo>
                  <a:pt x="4080586" y="3557715"/>
                  <a:pt x="4084765" y="3552190"/>
                  <a:pt x="4090194" y="3544713"/>
                </a:cubicBezTo>
                <a:cubicBezTo>
                  <a:pt x="4101624" y="3529090"/>
                  <a:pt x="4113245" y="3507563"/>
                  <a:pt x="4112293" y="3489467"/>
                </a:cubicBezTo>
                <a:cubicBezTo>
                  <a:pt x="4106579" y="3380305"/>
                  <a:pt x="4134011" y="3276480"/>
                  <a:pt x="4159920" y="3172654"/>
                </a:cubicBezTo>
                <a:cubicBezTo>
                  <a:pt x="4167922" y="3140649"/>
                  <a:pt x="4172160" y="3109025"/>
                  <a:pt x="4172375" y="3077401"/>
                </a:cubicBezTo>
                <a:lnTo>
                  <a:pt x="4172375" y="3077400"/>
                </a:lnTo>
                <a:cubicBezTo>
                  <a:pt x="4172589" y="3045776"/>
                  <a:pt x="4168779" y="3014152"/>
                  <a:pt x="4160682" y="2982147"/>
                </a:cubicBezTo>
                <a:lnTo>
                  <a:pt x="4157098" y="2947862"/>
                </a:lnTo>
                <a:lnTo>
                  <a:pt x="4157099" y="2947858"/>
                </a:lnTo>
                <a:lnTo>
                  <a:pt x="4165004" y="2903549"/>
                </a:lnTo>
                <a:lnTo>
                  <a:pt x="4181637" y="2848793"/>
                </a:lnTo>
                <a:cubicBezTo>
                  <a:pt x="4182970" y="2844316"/>
                  <a:pt x="4186256" y="2839982"/>
                  <a:pt x="4190328" y="2836172"/>
                </a:cubicBezTo>
                <a:close/>
                <a:moveTo>
                  <a:pt x="3705842" y="1508457"/>
                </a:moveTo>
                <a:lnTo>
                  <a:pt x="3677748" y="1596213"/>
                </a:lnTo>
                <a:cubicBezTo>
                  <a:pt x="3675271" y="1604978"/>
                  <a:pt x="3676796" y="1615836"/>
                  <a:pt x="3679653" y="1624980"/>
                </a:cubicBezTo>
                <a:cubicBezTo>
                  <a:pt x="3689369" y="1656223"/>
                  <a:pt x="3713754" y="1676036"/>
                  <a:pt x="3736234" y="1697753"/>
                </a:cubicBezTo>
                <a:cubicBezTo>
                  <a:pt x="3746141" y="1707279"/>
                  <a:pt x="3753189" y="1720423"/>
                  <a:pt x="3758903" y="1733188"/>
                </a:cubicBezTo>
                <a:cubicBezTo>
                  <a:pt x="3773574" y="1766335"/>
                  <a:pt x="3786718" y="1800246"/>
                  <a:pt x="3800624" y="1833775"/>
                </a:cubicBezTo>
                <a:cubicBezTo>
                  <a:pt x="3801958" y="1837013"/>
                  <a:pt x="3805387" y="1839679"/>
                  <a:pt x="3808245" y="1842158"/>
                </a:cubicBezTo>
                <a:cubicBezTo>
                  <a:pt x="3838346" y="1866922"/>
                  <a:pt x="3868635" y="1891497"/>
                  <a:pt x="3898736" y="1916454"/>
                </a:cubicBezTo>
                <a:cubicBezTo>
                  <a:pt x="3904450" y="1921216"/>
                  <a:pt x="3908642" y="1928076"/>
                  <a:pt x="3914166" y="1933219"/>
                </a:cubicBezTo>
                <a:cubicBezTo>
                  <a:pt x="3921786" y="1940459"/>
                  <a:pt x="3929027" y="1949603"/>
                  <a:pt x="3938171" y="1953413"/>
                </a:cubicBezTo>
                <a:cubicBezTo>
                  <a:pt x="3966936" y="1965224"/>
                  <a:pt x="3979320" y="1987894"/>
                  <a:pt x="3984654" y="2016469"/>
                </a:cubicBezTo>
                <a:cubicBezTo>
                  <a:pt x="3989607" y="2042570"/>
                  <a:pt x="3993799" y="2068669"/>
                  <a:pt x="3999513" y="2094578"/>
                </a:cubicBezTo>
                <a:cubicBezTo>
                  <a:pt x="4006371" y="2126201"/>
                  <a:pt x="4013801" y="2157636"/>
                  <a:pt x="4022184" y="2188879"/>
                </a:cubicBezTo>
                <a:cubicBezTo>
                  <a:pt x="4025804" y="2202404"/>
                  <a:pt x="4029994" y="2216692"/>
                  <a:pt x="4037424" y="2228314"/>
                </a:cubicBezTo>
                <a:cubicBezTo>
                  <a:pt x="4057999" y="2260890"/>
                  <a:pt x="4071905" y="2295753"/>
                  <a:pt x="4066381" y="2334044"/>
                </a:cubicBezTo>
                <a:cubicBezTo>
                  <a:pt x="4061999" y="2364715"/>
                  <a:pt x="4073239" y="2390434"/>
                  <a:pt x="4090766" y="2409485"/>
                </a:cubicBezTo>
                <a:cubicBezTo>
                  <a:pt x="4098720" y="2418154"/>
                  <a:pt x="4104233" y="2426976"/>
                  <a:pt x="4107867" y="2435912"/>
                </a:cubicBezTo>
                <a:lnTo>
                  <a:pt x="4113698" y="2463017"/>
                </a:lnTo>
                <a:lnTo>
                  <a:pt x="4105056" y="2518262"/>
                </a:lnTo>
                <a:lnTo>
                  <a:pt x="4105055" y="2518263"/>
                </a:lnTo>
                <a:cubicBezTo>
                  <a:pt x="4102388" y="2527789"/>
                  <a:pt x="4101244" y="2536456"/>
                  <a:pt x="4101411" y="2545005"/>
                </a:cubicBezTo>
                <a:lnTo>
                  <a:pt x="4101411" y="2545006"/>
                </a:lnTo>
                <a:cubicBezTo>
                  <a:pt x="4101577" y="2553555"/>
                  <a:pt x="4103054" y="2561985"/>
                  <a:pt x="4105625" y="2571034"/>
                </a:cubicBezTo>
                <a:cubicBezTo>
                  <a:pt x="4117627" y="2612945"/>
                  <a:pt x="4150204" y="2640950"/>
                  <a:pt x="4178779" y="2668001"/>
                </a:cubicBezTo>
                <a:cubicBezTo>
                  <a:pt x="4203164" y="2691054"/>
                  <a:pt x="4216880" y="2716963"/>
                  <a:pt x="4227170" y="2745348"/>
                </a:cubicBezTo>
                <a:lnTo>
                  <a:pt x="4227170" y="2745351"/>
                </a:lnTo>
                <a:lnTo>
                  <a:pt x="4233090" y="2778005"/>
                </a:lnTo>
                <a:lnTo>
                  <a:pt x="4232670" y="2785439"/>
                </a:lnTo>
                <a:lnTo>
                  <a:pt x="4222591" y="2811779"/>
                </a:lnTo>
                <a:lnTo>
                  <a:pt x="4222587" y="2811786"/>
                </a:lnTo>
                <a:lnTo>
                  <a:pt x="4222588" y="2811786"/>
                </a:lnTo>
                <a:lnTo>
                  <a:pt x="4222591" y="2811779"/>
                </a:lnTo>
                <a:lnTo>
                  <a:pt x="4232241" y="2793022"/>
                </a:lnTo>
                <a:lnTo>
                  <a:pt x="4232670" y="2785439"/>
                </a:lnTo>
                <a:lnTo>
                  <a:pt x="4233870" y="2782304"/>
                </a:lnTo>
                <a:lnTo>
                  <a:pt x="4233090" y="2778005"/>
                </a:lnTo>
                <a:lnTo>
                  <a:pt x="4233500" y="2770757"/>
                </a:lnTo>
                <a:lnTo>
                  <a:pt x="4227170" y="2745351"/>
                </a:lnTo>
                <a:lnTo>
                  <a:pt x="4227170" y="2745347"/>
                </a:lnTo>
                <a:cubicBezTo>
                  <a:pt x="4216880" y="2716962"/>
                  <a:pt x="4203164" y="2691053"/>
                  <a:pt x="4178779" y="2668000"/>
                </a:cubicBezTo>
                <a:cubicBezTo>
                  <a:pt x="4150204" y="2640949"/>
                  <a:pt x="4117627" y="2612944"/>
                  <a:pt x="4105625" y="2571033"/>
                </a:cubicBezTo>
                <a:lnTo>
                  <a:pt x="4101411" y="2545006"/>
                </a:lnTo>
                <a:lnTo>
                  <a:pt x="4105055" y="2518264"/>
                </a:lnTo>
                <a:lnTo>
                  <a:pt x="4105056" y="2518262"/>
                </a:lnTo>
                <a:lnTo>
                  <a:pt x="4111636" y="2490550"/>
                </a:lnTo>
                <a:lnTo>
                  <a:pt x="4113698" y="2463017"/>
                </a:lnTo>
                <a:lnTo>
                  <a:pt x="4113698" y="2463016"/>
                </a:lnTo>
                <a:cubicBezTo>
                  <a:pt x="4112817" y="2444776"/>
                  <a:pt x="4106674" y="2426821"/>
                  <a:pt x="4090766" y="2409484"/>
                </a:cubicBezTo>
                <a:cubicBezTo>
                  <a:pt x="4073239" y="2390433"/>
                  <a:pt x="4061999" y="2364714"/>
                  <a:pt x="4066381" y="2334043"/>
                </a:cubicBezTo>
                <a:cubicBezTo>
                  <a:pt x="4071905" y="2295752"/>
                  <a:pt x="4057999" y="2260889"/>
                  <a:pt x="4037424" y="2228313"/>
                </a:cubicBezTo>
                <a:cubicBezTo>
                  <a:pt x="4029994" y="2216691"/>
                  <a:pt x="4025804" y="2202403"/>
                  <a:pt x="4022184" y="2188878"/>
                </a:cubicBezTo>
                <a:cubicBezTo>
                  <a:pt x="4013801" y="2157635"/>
                  <a:pt x="4006371" y="2126200"/>
                  <a:pt x="3999513" y="2094577"/>
                </a:cubicBezTo>
                <a:cubicBezTo>
                  <a:pt x="3993799" y="2068668"/>
                  <a:pt x="3989607" y="2042569"/>
                  <a:pt x="3984654" y="2016468"/>
                </a:cubicBezTo>
                <a:cubicBezTo>
                  <a:pt x="3979320" y="1987893"/>
                  <a:pt x="3966936" y="1965223"/>
                  <a:pt x="3938171" y="1953412"/>
                </a:cubicBezTo>
                <a:cubicBezTo>
                  <a:pt x="3929027" y="1949602"/>
                  <a:pt x="3921786" y="1940458"/>
                  <a:pt x="3914166" y="1933218"/>
                </a:cubicBezTo>
                <a:cubicBezTo>
                  <a:pt x="3908642" y="1928075"/>
                  <a:pt x="3904450" y="1921215"/>
                  <a:pt x="3898736" y="1916453"/>
                </a:cubicBezTo>
                <a:cubicBezTo>
                  <a:pt x="3868635" y="1891496"/>
                  <a:pt x="3838346" y="1866921"/>
                  <a:pt x="3808245" y="1842157"/>
                </a:cubicBezTo>
                <a:cubicBezTo>
                  <a:pt x="3805387" y="1839678"/>
                  <a:pt x="3801958" y="1837012"/>
                  <a:pt x="3800624" y="1833774"/>
                </a:cubicBezTo>
                <a:cubicBezTo>
                  <a:pt x="3786718" y="1800245"/>
                  <a:pt x="3773575" y="1766334"/>
                  <a:pt x="3758903" y="1733187"/>
                </a:cubicBezTo>
                <a:cubicBezTo>
                  <a:pt x="3753189" y="1720422"/>
                  <a:pt x="3746141" y="1707278"/>
                  <a:pt x="3736235" y="1697752"/>
                </a:cubicBezTo>
                <a:cubicBezTo>
                  <a:pt x="3713755" y="1676035"/>
                  <a:pt x="3689369" y="1656222"/>
                  <a:pt x="3679653" y="1624979"/>
                </a:cubicBezTo>
                <a:cubicBezTo>
                  <a:pt x="3676797" y="1615835"/>
                  <a:pt x="3675272" y="1604977"/>
                  <a:pt x="3677749" y="1596212"/>
                </a:cubicBezTo>
                <a:close/>
                <a:moveTo>
                  <a:pt x="3724447" y="1459072"/>
                </a:moveTo>
                <a:lnTo>
                  <a:pt x="3724446" y="1459073"/>
                </a:lnTo>
                <a:lnTo>
                  <a:pt x="3715229" y="1481571"/>
                </a:lnTo>
                <a:close/>
                <a:moveTo>
                  <a:pt x="3743640" y="1268757"/>
                </a:moveTo>
                <a:cubicBezTo>
                  <a:pt x="3744092" y="1275401"/>
                  <a:pt x="3745664" y="1281688"/>
                  <a:pt x="3748807" y="1286069"/>
                </a:cubicBezTo>
                <a:cubicBezTo>
                  <a:pt x="3763380" y="1306929"/>
                  <a:pt x="3769620" y="1328552"/>
                  <a:pt x="3771144" y="1350627"/>
                </a:cubicBezTo>
                <a:lnTo>
                  <a:pt x="3765550" y="1413839"/>
                </a:lnTo>
                <a:lnTo>
                  <a:pt x="3771145" y="1350626"/>
                </a:lnTo>
                <a:cubicBezTo>
                  <a:pt x="3769620" y="1328551"/>
                  <a:pt x="3763381" y="1306929"/>
                  <a:pt x="3748807" y="1286068"/>
                </a:cubicBezTo>
                <a:close/>
                <a:moveTo>
                  <a:pt x="3685369" y="773034"/>
                </a:moveTo>
                <a:lnTo>
                  <a:pt x="3685369" y="773035"/>
                </a:lnTo>
                <a:cubicBezTo>
                  <a:pt x="3687655" y="800276"/>
                  <a:pt x="3690893" y="827329"/>
                  <a:pt x="3693369" y="854379"/>
                </a:cubicBezTo>
                <a:cubicBezTo>
                  <a:pt x="3695655" y="878956"/>
                  <a:pt x="3696417" y="903722"/>
                  <a:pt x="3724422" y="915343"/>
                </a:cubicBezTo>
                <a:cubicBezTo>
                  <a:pt x="3728804" y="917059"/>
                  <a:pt x="3732042" y="922773"/>
                  <a:pt x="3734900" y="927155"/>
                </a:cubicBezTo>
                <a:cubicBezTo>
                  <a:pt x="3778908" y="994785"/>
                  <a:pt x="3777764" y="1030980"/>
                  <a:pt x="3731280" y="1097087"/>
                </a:cubicBezTo>
                <a:cubicBezTo>
                  <a:pt x="3726518" y="1103945"/>
                  <a:pt x="3723088" y="1118613"/>
                  <a:pt x="3726898" y="1123185"/>
                </a:cubicBezTo>
                <a:cubicBezTo>
                  <a:pt x="3742710" y="1142617"/>
                  <a:pt x="3749759" y="1162953"/>
                  <a:pt x="3751617" y="1184028"/>
                </a:cubicBezTo>
                <a:cubicBezTo>
                  <a:pt x="3749759" y="1162953"/>
                  <a:pt x="3742711" y="1142616"/>
                  <a:pt x="3726899" y="1123184"/>
                </a:cubicBezTo>
                <a:cubicBezTo>
                  <a:pt x="3723089" y="1118612"/>
                  <a:pt x="3726519" y="1103944"/>
                  <a:pt x="3731281" y="1097086"/>
                </a:cubicBezTo>
                <a:cubicBezTo>
                  <a:pt x="3777765" y="1030979"/>
                  <a:pt x="3778909" y="994784"/>
                  <a:pt x="3734901" y="927154"/>
                </a:cubicBezTo>
                <a:cubicBezTo>
                  <a:pt x="3732043" y="922772"/>
                  <a:pt x="3728805" y="917058"/>
                  <a:pt x="3724423" y="915342"/>
                </a:cubicBezTo>
                <a:cubicBezTo>
                  <a:pt x="3696417" y="903721"/>
                  <a:pt x="3695655" y="878955"/>
                  <a:pt x="3693369" y="854378"/>
                </a:cubicBezTo>
                <a:close/>
                <a:moveTo>
                  <a:pt x="3740770" y="517850"/>
                </a:moveTo>
                <a:lnTo>
                  <a:pt x="3731852" y="556047"/>
                </a:lnTo>
                <a:cubicBezTo>
                  <a:pt x="3729756" y="564048"/>
                  <a:pt x="3724232" y="572622"/>
                  <a:pt x="3725374" y="580050"/>
                </a:cubicBezTo>
                <a:cubicBezTo>
                  <a:pt x="3728708" y="601578"/>
                  <a:pt x="3726279" y="622200"/>
                  <a:pt x="3721993" y="642537"/>
                </a:cubicBezTo>
                <a:lnTo>
                  <a:pt x="3709470" y="694927"/>
                </a:lnTo>
                <a:lnTo>
                  <a:pt x="3721994" y="642536"/>
                </a:lnTo>
                <a:cubicBezTo>
                  <a:pt x="3726280" y="622200"/>
                  <a:pt x="3728709" y="601577"/>
                  <a:pt x="3725375" y="580049"/>
                </a:cubicBezTo>
                <a:cubicBezTo>
                  <a:pt x="3724233" y="572621"/>
                  <a:pt x="3729757" y="564047"/>
                  <a:pt x="3731853" y="556046"/>
                </a:cubicBezTo>
                <a:close/>
                <a:moveTo>
                  <a:pt x="3754065" y="298168"/>
                </a:moveTo>
                <a:lnTo>
                  <a:pt x="3739283" y="313532"/>
                </a:lnTo>
                <a:lnTo>
                  <a:pt x="3739283" y="313532"/>
                </a:lnTo>
                <a:lnTo>
                  <a:pt x="3739282" y="313533"/>
                </a:lnTo>
                <a:cubicBezTo>
                  <a:pt x="3735090" y="316389"/>
                  <a:pt x="3737376" y="330298"/>
                  <a:pt x="3738710" y="338870"/>
                </a:cubicBezTo>
                <a:lnTo>
                  <a:pt x="3738716" y="338898"/>
                </a:lnTo>
                <a:lnTo>
                  <a:pt x="3748617" y="395639"/>
                </a:lnTo>
                <a:lnTo>
                  <a:pt x="3744807" y="367327"/>
                </a:lnTo>
                <a:lnTo>
                  <a:pt x="3738716" y="338898"/>
                </a:lnTo>
                <a:lnTo>
                  <a:pt x="3738711" y="338869"/>
                </a:lnTo>
                <a:cubicBezTo>
                  <a:pt x="3738044" y="334583"/>
                  <a:pt x="3737139" y="328963"/>
                  <a:pt x="3736925" y="324057"/>
                </a:cubicBezTo>
                <a:lnTo>
                  <a:pt x="3739283" y="313532"/>
                </a:lnTo>
                <a:close/>
                <a:moveTo>
                  <a:pt x="3761610" y="281567"/>
                </a:moveTo>
                <a:lnTo>
                  <a:pt x="3756715" y="295414"/>
                </a:lnTo>
                <a:lnTo>
                  <a:pt x="3756716" y="295414"/>
                </a:lnTo>
                <a:close/>
                <a:moveTo>
                  <a:pt x="3748290" y="24485"/>
                </a:moveTo>
                <a:lnTo>
                  <a:pt x="3746027" y="74128"/>
                </a:lnTo>
                <a:cubicBezTo>
                  <a:pt x="3746950" y="91491"/>
                  <a:pt x="3749260" y="108702"/>
                  <a:pt x="3751951" y="125860"/>
                </a:cubicBezTo>
                <a:lnTo>
                  <a:pt x="3756346" y="153386"/>
                </a:lnTo>
                <a:lnTo>
                  <a:pt x="3764619" y="228943"/>
                </a:lnTo>
                <a:lnTo>
                  <a:pt x="3760160" y="177270"/>
                </a:lnTo>
                <a:lnTo>
                  <a:pt x="3756346" y="153386"/>
                </a:lnTo>
                <a:lnTo>
                  <a:pt x="3756147" y="151568"/>
                </a:lnTo>
                <a:cubicBezTo>
                  <a:pt x="3751917" y="125875"/>
                  <a:pt x="3747412" y="100173"/>
                  <a:pt x="3746028" y="74128"/>
                </a:cubicBezTo>
                <a:close/>
                <a:moveTo>
                  <a:pt x="3745709" y="0"/>
                </a:moveTo>
                <a:lnTo>
                  <a:pt x="3748427" y="21485"/>
                </a:lnTo>
                <a:lnTo>
                  <a:pt x="3745709" y="0"/>
                </a:lnTo>
                <a:lnTo>
                  <a:pt x="4209817" y="0"/>
                </a:lnTo>
                <a:lnTo>
                  <a:pt x="4208690" y="2816"/>
                </a:lnTo>
                <a:cubicBezTo>
                  <a:pt x="4200308" y="21485"/>
                  <a:pt x="4197640" y="43011"/>
                  <a:pt x="4194592" y="63586"/>
                </a:cubicBezTo>
                <a:cubicBezTo>
                  <a:pt x="4189067" y="101307"/>
                  <a:pt x="4185637" y="139218"/>
                  <a:pt x="4180685" y="176938"/>
                </a:cubicBezTo>
                <a:cubicBezTo>
                  <a:pt x="4179541" y="184940"/>
                  <a:pt x="4177447" y="194084"/>
                  <a:pt x="4172683" y="200181"/>
                </a:cubicBezTo>
                <a:cubicBezTo>
                  <a:pt x="4140678" y="241900"/>
                  <a:pt x="4131725" y="292578"/>
                  <a:pt x="4134771" y="340773"/>
                </a:cubicBezTo>
                <a:cubicBezTo>
                  <a:pt x="4137060" y="378685"/>
                  <a:pt x="4138774" y="415834"/>
                  <a:pt x="4135536" y="453363"/>
                </a:cubicBezTo>
                <a:cubicBezTo>
                  <a:pt x="4135344" y="456221"/>
                  <a:pt x="4135726" y="460031"/>
                  <a:pt x="4137250" y="462125"/>
                </a:cubicBezTo>
                <a:cubicBezTo>
                  <a:pt x="4147346" y="475080"/>
                  <a:pt x="4148108" y="488606"/>
                  <a:pt x="4149822" y="505181"/>
                </a:cubicBezTo>
                <a:cubicBezTo>
                  <a:pt x="4152300" y="528614"/>
                  <a:pt x="4150584" y="550140"/>
                  <a:pt x="4146394" y="571859"/>
                </a:cubicBezTo>
                <a:cubicBezTo>
                  <a:pt x="4143346" y="587671"/>
                  <a:pt x="4137060" y="603672"/>
                  <a:pt x="4129057" y="617771"/>
                </a:cubicBezTo>
                <a:cubicBezTo>
                  <a:pt x="4117817" y="637391"/>
                  <a:pt x="4113437" y="656254"/>
                  <a:pt x="4128295" y="674922"/>
                </a:cubicBezTo>
                <a:cubicBezTo>
                  <a:pt x="4144108" y="695115"/>
                  <a:pt x="4138584" y="717976"/>
                  <a:pt x="4139154" y="740267"/>
                </a:cubicBezTo>
                <a:cubicBezTo>
                  <a:pt x="4139346" y="749981"/>
                  <a:pt x="4138964" y="760269"/>
                  <a:pt x="4141440" y="769604"/>
                </a:cubicBezTo>
                <a:cubicBezTo>
                  <a:pt x="4148490" y="796654"/>
                  <a:pt x="4159158" y="822755"/>
                  <a:pt x="4163920" y="850188"/>
                </a:cubicBezTo>
                <a:cubicBezTo>
                  <a:pt x="4166587" y="865429"/>
                  <a:pt x="4161824" y="882383"/>
                  <a:pt x="4158396" y="898197"/>
                </a:cubicBezTo>
                <a:cubicBezTo>
                  <a:pt x="4154776" y="914199"/>
                  <a:pt x="4149252" y="930010"/>
                  <a:pt x="4143536" y="945443"/>
                </a:cubicBezTo>
                <a:cubicBezTo>
                  <a:pt x="4139726" y="955919"/>
                  <a:pt x="4136106" y="967349"/>
                  <a:pt x="4129247" y="975732"/>
                </a:cubicBezTo>
                <a:cubicBezTo>
                  <a:pt x="4113627" y="994784"/>
                  <a:pt x="4110959" y="1014405"/>
                  <a:pt x="4119151" y="1036886"/>
                </a:cubicBezTo>
                <a:cubicBezTo>
                  <a:pt x="4120485" y="1040314"/>
                  <a:pt x="4120485" y="1044314"/>
                  <a:pt x="4120675" y="1048124"/>
                </a:cubicBezTo>
                <a:cubicBezTo>
                  <a:pt x="4124675" y="1109090"/>
                  <a:pt x="4127153" y="1170050"/>
                  <a:pt x="4133249" y="1230632"/>
                </a:cubicBezTo>
                <a:cubicBezTo>
                  <a:pt x="4135726" y="1255205"/>
                  <a:pt x="4146584" y="1278828"/>
                  <a:pt x="4153442" y="1303023"/>
                </a:cubicBezTo>
                <a:cubicBezTo>
                  <a:pt x="4154776" y="1307977"/>
                  <a:pt x="4156872" y="1313503"/>
                  <a:pt x="4155918" y="1318455"/>
                </a:cubicBezTo>
                <a:cubicBezTo>
                  <a:pt x="4146394" y="1372367"/>
                  <a:pt x="4160300" y="1422853"/>
                  <a:pt x="4178589" y="1472574"/>
                </a:cubicBezTo>
                <a:cubicBezTo>
                  <a:pt x="4180495" y="1477716"/>
                  <a:pt x="4179923" y="1484003"/>
                  <a:pt x="4179541" y="1489719"/>
                </a:cubicBezTo>
                <a:cubicBezTo>
                  <a:pt x="4178209" y="1505723"/>
                  <a:pt x="4171541" y="1523058"/>
                  <a:pt x="4175541" y="1537536"/>
                </a:cubicBezTo>
                <a:cubicBezTo>
                  <a:pt x="4186591" y="1576018"/>
                  <a:pt x="4199926" y="1614119"/>
                  <a:pt x="4216690" y="1650316"/>
                </a:cubicBezTo>
                <a:cubicBezTo>
                  <a:pt x="4233645" y="1687085"/>
                  <a:pt x="4247933" y="1721184"/>
                  <a:pt x="4230789" y="1763286"/>
                </a:cubicBezTo>
                <a:cubicBezTo>
                  <a:pt x="4223548" y="1781193"/>
                  <a:pt x="4228693" y="1804815"/>
                  <a:pt x="4230597" y="1825392"/>
                </a:cubicBezTo>
                <a:cubicBezTo>
                  <a:pt x="4232121" y="1840440"/>
                  <a:pt x="4240696" y="1854919"/>
                  <a:pt x="4240696" y="1869779"/>
                </a:cubicBezTo>
                <a:cubicBezTo>
                  <a:pt x="4240696" y="1909407"/>
                  <a:pt x="4250791" y="1944648"/>
                  <a:pt x="4271366" y="1978939"/>
                </a:cubicBezTo>
                <a:cubicBezTo>
                  <a:pt x="4279367" y="1992278"/>
                  <a:pt x="4274032" y="2013042"/>
                  <a:pt x="4276128" y="2030377"/>
                </a:cubicBezTo>
                <a:cubicBezTo>
                  <a:pt x="4278604" y="2048667"/>
                  <a:pt x="4280890" y="2067524"/>
                  <a:pt x="4286418" y="2085053"/>
                </a:cubicBezTo>
                <a:cubicBezTo>
                  <a:pt x="4300895" y="2130392"/>
                  <a:pt x="4317278" y="2175162"/>
                  <a:pt x="4332518" y="2220311"/>
                </a:cubicBezTo>
                <a:cubicBezTo>
                  <a:pt x="4345093" y="2257458"/>
                  <a:pt x="4335186" y="2294038"/>
                  <a:pt x="4329853" y="2330805"/>
                </a:cubicBezTo>
                <a:cubicBezTo>
                  <a:pt x="4326422" y="2353858"/>
                  <a:pt x="4318230" y="2375382"/>
                  <a:pt x="4330422" y="2401291"/>
                </a:cubicBezTo>
                <a:cubicBezTo>
                  <a:pt x="4342044" y="2426058"/>
                  <a:pt x="4339377" y="2457491"/>
                  <a:pt x="4345663" y="2485306"/>
                </a:cubicBezTo>
                <a:cubicBezTo>
                  <a:pt x="4350997" y="2508741"/>
                  <a:pt x="4359572" y="2531408"/>
                  <a:pt x="4367953" y="2554078"/>
                </a:cubicBezTo>
                <a:cubicBezTo>
                  <a:pt x="4379384" y="2584941"/>
                  <a:pt x="4391384" y="2615420"/>
                  <a:pt x="4385670" y="2649142"/>
                </a:cubicBezTo>
                <a:cubicBezTo>
                  <a:pt x="4379192" y="2687435"/>
                  <a:pt x="4403577" y="2713722"/>
                  <a:pt x="4419771" y="2743825"/>
                </a:cubicBezTo>
                <a:cubicBezTo>
                  <a:pt x="4430819" y="2764589"/>
                  <a:pt x="4439012" y="2787258"/>
                  <a:pt x="4445870" y="2809929"/>
                </a:cubicBezTo>
                <a:cubicBezTo>
                  <a:pt x="4454824" y="2840218"/>
                  <a:pt x="4460158" y="2871461"/>
                  <a:pt x="4468921" y="2901942"/>
                </a:cubicBezTo>
                <a:cubicBezTo>
                  <a:pt x="4482065" y="2948046"/>
                  <a:pt x="4492353" y="2994721"/>
                  <a:pt x="4485113" y="3042727"/>
                </a:cubicBezTo>
                <a:cubicBezTo>
                  <a:pt x="4481875" y="3064826"/>
                  <a:pt x="4482065" y="3085402"/>
                  <a:pt x="4486829" y="3107499"/>
                </a:cubicBezTo>
                <a:cubicBezTo>
                  <a:pt x="4494639" y="3143694"/>
                  <a:pt x="4495592" y="3180843"/>
                  <a:pt x="4524738" y="3209992"/>
                </a:cubicBezTo>
                <a:cubicBezTo>
                  <a:pt x="4535027" y="3220279"/>
                  <a:pt x="4537693" y="3238757"/>
                  <a:pt x="4543028" y="3253808"/>
                </a:cubicBezTo>
                <a:cubicBezTo>
                  <a:pt x="4549315" y="3271144"/>
                  <a:pt x="4546075" y="3283907"/>
                  <a:pt x="4527787" y="3293243"/>
                </a:cubicBezTo>
                <a:cubicBezTo>
                  <a:pt x="4519596" y="3297433"/>
                  <a:pt x="4511594" y="3309436"/>
                  <a:pt x="4510260" y="3318770"/>
                </a:cubicBezTo>
                <a:cubicBezTo>
                  <a:pt x="4506260" y="3346775"/>
                  <a:pt x="4512166" y="3372494"/>
                  <a:pt x="4525122" y="3399545"/>
                </a:cubicBezTo>
                <a:cubicBezTo>
                  <a:pt x="4537313" y="3424882"/>
                  <a:pt x="4535979" y="3456507"/>
                  <a:pt x="4540741" y="3485274"/>
                </a:cubicBezTo>
                <a:cubicBezTo>
                  <a:pt x="4544171" y="3505656"/>
                  <a:pt x="4551219" y="3526041"/>
                  <a:pt x="4551219" y="3546616"/>
                </a:cubicBezTo>
                <a:cubicBezTo>
                  <a:pt x="4551219" y="3572145"/>
                  <a:pt x="4545123" y="3597481"/>
                  <a:pt x="4542837" y="3623200"/>
                </a:cubicBezTo>
                <a:cubicBezTo>
                  <a:pt x="4540933" y="3643203"/>
                  <a:pt x="4541695" y="3663588"/>
                  <a:pt x="4539409" y="3683590"/>
                </a:cubicBezTo>
                <a:cubicBezTo>
                  <a:pt x="4537693" y="3699975"/>
                  <a:pt x="4533313" y="3716167"/>
                  <a:pt x="4529694" y="3732360"/>
                </a:cubicBezTo>
                <a:cubicBezTo>
                  <a:pt x="4528359" y="3738266"/>
                  <a:pt x="4523214" y="3744172"/>
                  <a:pt x="4523976" y="3749505"/>
                </a:cubicBezTo>
                <a:cubicBezTo>
                  <a:pt x="4532169" y="3802466"/>
                  <a:pt x="4495592" y="3840568"/>
                  <a:pt x="4479399" y="3885337"/>
                </a:cubicBezTo>
                <a:cubicBezTo>
                  <a:pt x="4462252" y="3932393"/>
                  <a:pt x="4435964" y="3977924"/>
                  <a:pt x="4443774" y="4030502"/>
                </a:cubicBezTo>
                <a:cubicBezTo>
                  <a:pt x="4448536" y="4062317"/>
                  <a:pt x="4459586" y="4092988"/>
                  <a:pt x="4466255" y="4124613"/>
                </a:cubicBezTo>
                <a:cubicBezTo>
                  <a:pt x="4468541" y="4135853"/>
                  <a:pt x="4468159" y="4148426"/>
                  <a:pt x="4465873" y="4159666"/>
                </a:cubicBezTo>
                <a:cubicBezTo>
                  <a:pt x="4455394" y="4213960"/>
                  <a:pt x="4453871" y="4267492"/>
                  <a:pt x="4471017" y="4320836"/>
                </a:cubicBezTo>
                <a:cubicBezTo>
                  <a:pt x="4473875" y="4329978"/>
                  <a:pt x="4476541" y="4339694"/>
                  <a:pt x="4476541" y="4349221"/>
                </a:cubicBezTo>
                <a:cubicBezTo>
                  <a:pt x="4476541" y="4401418"/>
                  <a:pt x="4472541" y="4452664"/>
                  <a:pt x="4453871" y="4502578"/>
                </a:cubicBezTo>
                <a:cubicBezTo>
                  <a:pt x="4447584" y="4519342"/>
                  <a:pt x="4451584" y="4539727"/>
                  <a:pt x="4450060" y="4558206"/>
                </a:cubicBezTo>
                <a:cubicBezTo>
                  <a:pt x="4448728" y="4575350"/>
                  <a:pt x="4448156" y="4592877"/>
                  <a:pt x="4443774" y="4609451"/>
                </a:cubicBezTo>
                <a:cubicBezTo>
                  <a:pt x="4437298" y="4633646"/>
                  <a:pt x="4436536" y="4656125"/>
                  <a:pt x="4442250" y="4681082"/>
                </a:cubicBezTo>
                <a:cubicBezTo>
                  <a:pt x="4447584" y="4704894"/>
                  <a:pt x="4444919" y="4730613"/>
                  <a:pt x="4445108" y="4755380"/>
                </a:cubicBezTo>
                <a:cubicBezTo>
                  <a:pt x="4445298" y="4783003"/>
                  <a:pt x="4445488" y="4810626"/>
                  <a:pt x="4444537" y="4838249"/>
                </a:cubicBezTo>
                <a:cubicBezTo>
                  <a:pt x="4444156" y="4849299"/>
                  <a:pt x="4436536" y="4861872"/>
                  <a:pt x="4439584" y="4871018"/>
                </a:cubicBezTo>
                <a:cubicBezTo>
                  <a:pt x="4449870" y="4900545"/>
                  <a:pt x="4437488" y="4930074"/>
                  <a:pt x="4443012" y="4959601"/>
                </a:cubicBezTo>
                <a:cubicBezTo>
                  <a:pt x="4445870" y="4974081"/>
                  <a:pt x="4438060" y="4990464"/>
                  <a:pt x="4437298" y="5006085"/>
                </a:cubicBezTo>
                <a:cubicBezTo>
                  <a:pt x="4435964" y="5031613"/>
                  <a:pt x="4436536" y="5057140"/>
                  <a:pt x="4436154" y="5082669"/>
                </a:cubicBezTo>
                <a:cubicBezTo>
                  <a:pt x="4435964" y="5091051"/>
                  <a:pt x="4435203" y="5099244"/>
                  <a:pt x="4434819" y="5107626"/>
                </a:cubicBezTo>
                <a:cubicBezTo>
                  <a:pt x="4434439" y="5115056"/>
                  <a:pt x="4432725" y="5122866"/>
                  <a:pt x="4434057" y="5129915"/>
                </a:cubicBezTo>
                <a:cubicBezTo>
                  <a:pt x="4438822" y="5155444"/>
                  <a:pt x="4446632" y="5180590"/>
                  <a:pt x="4449680" y="5206307"/>
                </a:cubicBezTo>
                <a:cubicBezTo>
                  <a:pt x="4452346" y="5228596"/>
                  <a:pt x="4448728" y="5251649"/>
                  <a:pt x="4450632" y="5274128"/>
                </a:cubicBezTo>
                <a:cubicBezTo>
                  <a:pt x="4453871" y="5313753"/>
                  <a:pt x="4459586" y="5353378"/>
                  <a:pt x="4463207" y="5393004"/>
                </a:cubicBezTo>
                <a:cubicBezTo>
                  <a:pt x="4463968" y="5401578"/>
                  <a:pt x="4459204" y="5410530"/>
                  <a:pt x="4458824" y="5419294"/>
                </a:cubicBezTo>
                <a:cubicBezTo>
                  <a:pt x="4457872" y="5446727"/>
                  <a:pt x="4457680" y="5474160"/>
                  <a:pt x="4457110" y="5501593"/>
                </a:cubicBezTo>
                <a:cubicBezTo>
                  <a:pt x="4456918" y="5517214"/>
                  <a:pt x="4457490" y="5533026"/>
                  <a:pt x="4455776" y="5548459"/>
                </a:cubicBezTo>
                <a:cubicBezTo>
                  <a:pt x="4453490" y="5568841"/>
                  <a:pt x="4450060" y="5587320"/>
                  <a:pt x="4464920" y="5606371"/>
                </a:cubicBezTo>
                <a:cubicBezTo>
                  <a:pt x="4487972" y="5635710"/>
                  <a:pt x="4479018" y="5673049"/>
                  <a:pt x="4484351" y="5706958"/>
                </a:cubicBezTo>
                <a:cubicBezTo>
                  <a:pt x="4485685" y="5715722"/>
                  <a:pt x="4485875" y="5724677"/>
                  <a:pt x="4487399" y="5733439"/>
                </a:cubicBezTo>
                <a:cubicBezTo>
                  <a:pt x="4490257" y="5749633"/>
                  <a:pt x="4493495" y="5765634"/>
                  <a:pt x="4496736" y="5781829"/>
                </a:cubicBezTo>
                <a:cubicBezTo>
                  <a:pt x="4497306" y="5784685"/>
                  <a:pt x="4497498" y="5787923"/>
                  <a:pt x="4498450" y="5790591"/>
                </a:cubicBezTo>
                <a:cubicBezTo>
                  <a:pt x="4506450" y="5815168"/>
                  <a:pt x="4515594" y="5839360"/>
                  <a:pt x="4522072" y="5864317"/>
                </a:cubicBezTo>
                <a:cubicBezTo>
                  <a:pt x="4525311" y="5876510"/>
                  <a:pt x="4525693" y="5890036"/>
                  <a:pt x="4523976" y="5902609"/>
                </a:cubicBezTo>
                <a:cubicBezTo>
                  <a:pt x="4519024" y="5939376"/>
                  <a:pt x="4516928" y="5975763"/>
                  <a:pt x="4524168" y="6012722"/>
                </a:cubicBezTo>
                <a:cubicBezTo>
                  <a:pt x="4527025" y="6027391"/>
                  <a:pt x="4522263" y="6043775"/>
                  <a:pt x="4520548" y="6059396"/>
                </a:cubicBezTo>
                <a:cubicBezTo>
                  <a:pt x="4515976" y="6096735"/>
                  <a:pt x="4511022" y="6134074"/>
                  <a:pt x="4506642" y="6171604"/>
                </a:cubicBezTo>
                <a:cubicBezTo>
                  <a:pt x="4503975" y="6195036"/>
                  <a:pt x="4502450" y="6218659"/>
                  <a:pt x="4499785" y="6242092"/>
                </a:cubicBezTo>
                <a:cubicBezTo>
                  <a:pt x="4496544" y="6269143"/>
                  <a:pt x="4491591" y="6296004"/>
                  <a:pt x="4488923" y="6323057"/>
                </a:cubicBezTo>
                <a:cubicBezTo>
                  <a:pt x="4485875" y="6353918"/>
                  <a:pt x="4485305" y="6384971"/>
                  <a:pt x="4482065" y="6415832"/>
                </a:cubicBezTo>
                <a:cubicBezTo>
                  <a:pt x="4475779" y="6472224"/>
                  <a:pt x="4468349" y="6528423"/>
                  <a:pt x="4461300" y="6584811"/>
                </a:cubicBezTo>
                <a:cubicBezTo>
                  <a:pt x="4454442" y="6639487"/>
                  <a:pt x="4448346" y="6694163"/>
                  <a:pt x="4439775" y="6748457"/>
                </a:cubicBezTo>
                <a:cubicBezTo>
                  <a:pt x="4436154" y="6771318"/>
                  <a:pt x="4426247" y="6793034"/>
                  <a:pt x="4420723" y="6815515"/>
                </a:cubicBezTo>
                <a:lnTo>
                  <a:pt x="4411023" y="6858000"/>
                </a:lnTo>
                <a:lnTo>
                  <a:pt x="4238770" y="6858000"/>
                </a:lnTo>
                <a:lnTo>
                  <a:pt x="0" y="6858000"/>
                </a:lnTo>
                <a:lnTo>
                  <a:pt x="0" y="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A7900967-84CA-47B4-9F1C-E787BAC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5130" name="Freeform: Shape 5129">
              <a:extLst>
                <a:ext uri="{FF2B5EF4-FFF2-40B4-BE49-F238E27FC236}">
                  <a16:creationId xmlns:a16="http://schemas.microsoft.com/office/drawing/2014/main" id="{CAB3C749-6482-440B-9386-94091006D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31" name="Freeform: Shape 5130">
              <a:extLst>
                <a:ext uri="{FF2B5EF4-FFF2-40B4-BE49-F238E27FC236}">
                  <a16:creationId xmlns:a16="http://schemas.microsoft.com/office/drawing/2014/main" id="{3C5C6B36-2238-4BBF-87F8-B1B3F5DD5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5750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9415-62CF-CFD3-C319-FCEF7A41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A2CB0-690B-184C-3179-8E6BAF70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</a:t>
            </a:r>
            <a:endParaRPr lang="ru-RU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4A1BDF-4827-406F-1DFB-6ED9C4013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2017 вышла статья </a:t>
            </a:r>
            <a:r>
              <a:rPr lang="en-US" dirty="0"/>
              <a:t>– Attention All you need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Идея – смотреть не на отдельные слова и их связи</a:t>
            </a:r>
            <a:r>
              <a:rPr lang="en-US" dirty="0"/>
              <a:t>, </a:t>
            </a:r>
            <a:r>
              <a:rPr lang="ru-RU" dirty="0"/>
              <a:t>а на все предложение целиком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577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CEBD-6676-2EE6-C59A-C54ECC47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F8833-DF7A-D87F-7216-F8262A815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 (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пример)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E4BC2B-F58B-D4EB-6CB5-0EAAA35DC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«Автомобиль сломался»</a:t>
            </a:r>
          </a:p>
          <a:p>
            <a:pPr marL="0" indent="0">
              <a:buNone/>
            </a:pPr>
            <a:r>
              <a:rPr lang="ru-RU" dirty="0"/>
              <a:t>«Машина вышла из строя»</a:t>
            </a:r>
            <a:endParaRPr lang="ru-RU" sz="1400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Проблема сравнения статистикой – разные слова</a:t>
            </a:r>
            <a:r>
              <a:rPr lang="en-US" dirty="0"/>
              <a:t>, </a:t>
            </a:r>
            <a:r>
              <a:rPr lang="ru-RU" dirty="0"/>
              <a:t>но смысл один и тот же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Центральная идея в </a:t>
            </a:r>
            <a:r>
              <a:rPr lang="en-US" dirty="0"/>
              <a:t>attention (</a:t>
            </a:r>
            <a:r>
              <a:rPr lang="ru-RU" dirty="0"/>
              <a:t>внимание)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ru-RU" dirty="0"/>
              <a:t>А именно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Q</a:t>
            </a:r>
            <a:r>
              <a:rPr lang="ru-RU" dirty="0"/>
              <a:t> (Запрос)</a:t>
            </a:r>
            <a:r>
              <a:rPr lang="en-US" dirty="0"/>
              <a:t>, K</a:t>
            </a:r>
            <a:r>
              <a:rPr lang="ru-RU" dirty="0"/>
              <a:t> (Ключ)</a:t>
            </a:r>
            <a:r>
              <a:rPr lang="en-US" dirty="0"/>
              <a:t>, V</a:t>
            </a:r>
            <a:r>
              <a:rPr lang="ru-RU" dirty="0"/>
              <a:t> (</a:t>
            </a:r>
            <a:r>
              <a:rPr lang="ru-RU" dirty="0" err="1"/>
              <a:t>Эмбединг</a:t>
            </a:r>
            <a:r>
              <a:rPr lang="ru-RU" dirty="0"/>
              <a:t>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863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8D0B-5A66-EDC6-4586-CAD95B05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09C56-2D08-328F-8CC1-D4038CF1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 (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сравнение)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10C4AB-C8B8-FF90-2DED-0B386AD18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Но сначала посмотрим пример сравнение близости предложений</a:t>
            </a:r>
            <a:endParaRPr lang="en" dirty="0"/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r>
              <a:rPr lang="en" dirty="0"/>
              <a:t>https://</a:t>
            </a:r>
            <a:r>
              <a:rPr lang="en" dirty="0" err="1"/>
              <a:t>github.com</a:t>
            </a:r>
            <a:r>
              <a:rPr lang="en" dirty="0"/>
              <a:t>/Letch49/semantic-vvsu-2026/blob/main/lectures/lecture_3/lecture_3_transformers.ipynb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149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FBF8E-1BEE-4F18-2539-4450DF73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4AF22-3C09-DDE4-DF4D-8CDFF6E3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 (attention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2050" name="Picture 2" descr="What is Query, Key, and Value (QKV) in the Transformer Architecture and Why  Are They Used? | Ebrahim Pichka">
            <a:extLst>
              <a:ext uri="{FF2B5EF4-FFF2-40B4-BE49-F238E27FC236}">
                <a16:creationId xmlns:a16="http://schemas.microsoft.com/office/drawing/2014/main" id="{B82AE164-174B-86BA-C4BA-B17BD8A91E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41" y="1825625"/>
            <a:ext cx="811691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E2BC08-DC07-596A-B226-063C1E099EC1}"/>
              </a:ext>
            </a:extLst>
          </p:cNvPr>
          <p:cNvSpPr txBox="1"/>
          <p:nvPr/>
        </p:nvSpPr>
        <p:spPr>
          <a:xfrm>
            <a:off x="2017986" y="6123543"/>
            <a:ext cx="815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Архитектура механизма внимания</a:t>
            </a:r>
          </a:p>
        </p:txBody>
      </p:sp>
    </p:spTree>
    <p:extLst>
      <p:ext uri="{BB962C8B-B14F-4D97-AF65-F5344CB8AC3E}">
        <p14:creationId xmlns:p14="http://schemas.microsoft.com/office/powerpoint/2010/main" val="3686541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5025-EBF9-A850-503A-7153A056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DDF1C4-6D78-0BB2-6A32-8DE1EF1A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 (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Архитектура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LLM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6146" name="Picture 2" descr="Архитектуры искусственного интеллекта в 2025: от трансформеров до  диффузионных LLM | Блог Serverflow">
            <a:extLst>
              <a:ext uri="{FF2B5EF4-FFF2-40B4-BE49-F238E27FC236}">
                <a16:creationId xmlns:a16="http://schemas.microsoft.com/office/drawing/2014/main" id="{03177D40-5E2E-D6A5-F989-06ADC44F0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399" y="1825625"/>
            <a:ext cx="877120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274AB0-7B33-8E04-D22F-15C3D409CCED}"/>
              </a:ext>
            </a:extLst>
          </p:cNvPr>
          <p:cNvSpPr txBox="1"/>
          <p:nvPr/>
        </p:nvSpPr>
        <p:spPr>
          <a:xfrm>
            <a:off x="1710399" y="6176963"/>
            <a:ext cx="8771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Архитектура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LLM –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Как видим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центральная часть это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Q, K, V (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фундамент)</a:t>
            </a:r>
          </a:p>
        </p:txBody>
      </p:sp>
    </p:spTree>
    <p:extLst>
      <p:ext uri="{BB962C8B-B14F-4D97-AF65-F5344CB8AC3E}">
        <p14:creationId xmlns:p14="http://schemas.microsoft.com/office/powerpoint/2010/main" val="3596585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8B7A-FB44-4BC0-8F09-B01B932F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2DE3CD-7BB6-A39B-9046-3FB36934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 (attention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4100" name="Picture 4" descr="geekr.">
            <a:extLst>
              <a:ext uri="{FF2B5EF4-FFF2-40B4-BE49-F238E27FC236}">
                <a16:creationId xmlns:a16="http://schemas.microsoft.com/office/drawing/2014/main" id="{2D211F88-4FAE-9933-E3EB-23DCD36DA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503" y="1690688"/>
            <a:ext cx="8628993" cy="466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372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45CC-68B0-C07A-395C-686B363AD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1CE65-DBCA-9ED4-9476-3568E377C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 (TFIDF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5F263C-0320-7407-A693-667A05241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«Автомобиль сломался»</a:t>
            </a:r>
          </a:p>
          <a:p>
            <a:pPr marL="0" indent="0">
              <a:buNone/>
            </a:pPr>
            <a:r>
              <a:rPr lang="ru-RU" dirty="0"/>
              <a:t>«Машина вышла из строя»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TFIDF – </a:t>
            </a:r>
            <a:r>
              <a:rPr lang="ru-RU" dirty="0"/>
              <a:t>сравнивает буквально по словам</a:t>
            </a:r>
            <a:r>
              <a:rPr lang="en-US" dirty="0"/>
              <a:t>. 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Если похожих слов нет – значит не похожи</a:t>
            </a:r>
          </a:p>
        </p:txBody>
      </p:sp>
    </p:spTree>
    <p:extLst>
      <p:ext uri="{BB962C8B-B14F-4D97-AF65-F5344CB8AC3E}">
        <p14:creationId xmlns:p14="http://schemas.microsoft.com/office/powerpoint/2010/main" val="736561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40B64-3E91-87A3-6393-2951028D4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B5154-E372-3751-9011-F1DBDB4C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 (Q,K,V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4694E-61B6-5E11-203C-6437802A0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Transformers – </a:t>
            </a:r>
            <a:r>
              <a:rPr lang="ru-RU" dirty="0"/>
              <a:t>умеет работать с общим контекстом всех предложений</a:t>
            </a:r>
            <a:r>
              <a:rPr lang="en-US" dirty="0"/>
              <a:t>, </a:t>
            </a:r>
            <a:r>
              <a:rPr lang="ru-RU" dirty="0"/>
              <a:t>на котором был обучен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Запрос про машину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Q (Query) – </a:t>
            </a:r>
            <a:r>
              <a:rPr lang="ru-RU" dirty="0"/>
              <a:t>запрос</a:t>
            </a:r>
          </a:p>
          <a:p>
            <a:pPr marL="0" indent="0">
              <a:buNone/>
            </a:pPr>
            <a:r>
              <a:rPr lang="en-US" dirty="0"/>
              <a:t>K  (Key) </a:t>
            </a:r>
            <a:r>
              <a:rPr lang="ru-RU" dirty="0"/>
              <a:t>     –</a:t>
            </a:r>
            <a:r>
              <a:rPr lang="en-US" dirty="0"/>
              <a:t> </a:t>
            </a:r>
            <a:r>
              <a:rPr lang="ru-RU" dirty="0"/>
              <a:t>все предложения где был общий контекст машин</a:t>
            </a:r>
          </a:p>
          <a:p>
            <a:pPr marL="0" indent="0">
              <a:buNone/>
            </a:pPr>
            <a:r>
              <a:rPr lang="en-US" dirty="0"/>
              <a:t>V (Value)   – </a:t>
            </a:r>
            <a:r>
              <a:rPr lang="ru-RU" dirty="0"/>
              <a:t>содержание текста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Если проще</a:t>
            </a:r>
            <a:r>
              <a:rPr lang="en-US" dirty="0"/>
              <a:t>:</a:t>
            </a:r>
          </a:p>
          <a:p>
            <a:pPr marL="0" indent="0">
              <a:buNone/>
            </a:pPr>
            <a:br>
              <a:rPr lang="en-US" dirty="0"/>
            </a:br>
            <a:r>
              <a:rPr lang="ru-RU" dirty="0"/>
              <a:t>«автомобиль» + контекст «сломался»     → вектор ≈ [поломка, транспорт]</a:t>
            </a:r>
          </a:p>
          <a:p>
            <a:pPr marL="0" indent="0">
              <a:buNone/>
            </a:pPr>
            <a:r>
              <a:rPr lang="ru-RU" dirty="0"/>
              <a:t>«машина»     </a:t>
            </a:r>
            <a:r>
              <a:rPr lang="en-US" dirty="0"/>
              <a:t>    </a:t>
            </a:r>
            <a:r>
              <a:rPr lang="ru-RU" dirty="0"/>
              <a:t>+ контекст «вышла из строя» → вектор ≈ [поломка, транспорт]</a:t>
            </a:r>
          </a:p>
        </p:txBody>
      </p:sp>
    </p:spTree>
    <p:extLst>
      <p:ext uri="{BB962C8B-B14F-4D97-AF65-F5344CB8AC3E}">
        <p14:creationId xmlns:p14="http://schemas.microsoft.com/office/powerpoint/2010/main" val="2592122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80392-F577-816C-87E4-BF474B77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99B89-ACD3-648C-8FD0-60472320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 (Q,K,V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AE7CED-66AA-E5C5-F186-6B61840AC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Без контекста: </a:t>
            </a:r>
            <a:endParaRPr lang="en-US" dirty="0"/>
          </a:p>
          <a:p>
            <a:pPr>
              <a:buFontTx/>
              <a:buChar char="-"/>
            </a:pPr>
            <a:r>
              <a:rPr lang="ru-RU" dirty="0"/>
              <a:t>расстояние ≈ 0 (разные слова). 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c</a:t>
            </a:r>
            <a:r>
              <a:rPr lang="ru-RU" dirty="0"/>
              <a:t> вниманием: расстояние ≈ 0.85 (одинаковый смысл).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ru-RU" dirty="0"/>
              <a:t>Оказалось</a:t>
            </a:r>
            <a:r>
              <a:rPr lang="en-US" dirty="0"/>
              <a:t>, </a:t>
            </a:r>
            <a:r>
              <a:rPr lang="ru-RU" dirty="0"/>
              <a:t>если обучить на большом контексте</a:t>
            </a:r>
            <a:r>
              <a:rPr lang="en-US" dirty="0"/>
              <a:t>, </a:t>
            </a:r>
            <a:r>
              <a:rPr lang="ru-RU" dirty="0"/>
              <a:t>то получим что-то около </a:t>
            </a:r>
            <a:r>
              <a:rPr lang="en-US" dirty="0"/>
              <a:t>ChatGPT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8757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FD23-ADF7-0E04-F597-942DAD13B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B9D38-0368-927C-B859-1582E0D5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LLM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transformers (ChatGPT3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066F54C-9827-61B7-D9E9-05AB2BE4F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5202" y="1825625"/>
            <a:ext cx="93015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7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12C45-4212-33B3-E0A4-1FF058840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Рынок</a:t>
            </a:r>
            <a:endParaRPr lang="ru-RU" sz="2000" dirty="0"/>
          </a:p>
        </p:txBody>
      </p:sp>
      <p:pic>
        <p:nvPicPr>
          <p:cNvPr id="7170" name="Picture 2" descr="Claude - Review 2026 - PCMag UK">
            <a:extLst>
              <a:ext uri="{FF2B5EF4-FFF2-40B4-BE49-F238E27FC236}">
                <a16:creationId xmlns:a16="http://schemas.microsoft.com/office/drawing/2014/main" id="{40834FED-2413-D093-09B0-E8600F4BCB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84" y="1431196"/>
            <a:ext cx="4662112" cy="2618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370 рез. по запросу «Chat gpt logo» — стоковая векторная графика |  Shutterstock">
            <a:extLst>
              <a:ext uri="{FF2B5EF4-FFF2-40B4-BE49-F238E27FC236}">
                <a16:creationId xmlns:a16="http://schemas.microsoft.com/office/drawing/2014/main" id="{7F8692A3-CBC2-1E18-6154-2F62086CD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2751" y="874749"/>
            <a:ext cx="25654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Google Gemini">
            <a:extLst>
              <a:ext uri="{FF2B5EF4-FFF2-40B4-BE49-F238E27FC236}">
                <a16:creationId xmlns:a16="http://schemas.microsoft.com/office/drawing/2014/main" id="{488EC9EB-7F2B-9782-D2FE-49471B4D0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76" y="3686460"/>
            <a:ext cx="5638294" cy="317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998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Рынок LLM: апрель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9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Три флагманские модели — одна цена, разные сильные стороны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500000"/>
            <a:ext cx="3500000" cy="550000"/>
          </a:xfrm>
          <a:prstGeom prst="rect">
            <a:avLst/>
          </a:prstGeom>
          <a:solidFill>
            <a:srgbClr val="4E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000" y="1580000"/>
            <a:ext cx="3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Claude (Anthropic)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" y="1820000"/>
            <a:ext cx="3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</a:rPr>
              <a:t>Opus 4.6 / Sonnet 4.6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100000"/>
            <a:ext cx="3500000" cy="3600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00" y="2220000"/>
            <a:ext cx="3340000" cy="3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Лучший для кода (SWE-bench 80.8%)
• Сложные рассуждения
• Качественный текст
• Claude Code — быстрый debug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0000" y="1500000"/>
            <a:ext cx="3500000" cy="55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80000" y="1580000"/>
            <a:ext cx="3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ChatGPT (OpenAI)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0000" y="1820000"/>
            <a:ext cx="3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</a:rPr>
              <a:t>GPT-5.4 / GPT-5.4 Thinking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0000" y="2100000"/>
            <a:ext cx="3500000" cy="3600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80000" y="2220000"/>
            <a:ext cx="3340000" cy="3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Computer Use нативно
• Широкая экосистема
• GPT-5.4 Thinking — прозрачные рассуждения
• Лучший голосовой режим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0000" y="1500000"/>
            <a:ext cx="3500000" cy="550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80000" y="1580000"/>
            <a:ext cx="3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Gemini (Google)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0000" y="1820000"/>
            <a:ext cx="3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</a:rPr>
              <a:t>Gemini 3.1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0" y="2100000"/>
            <a:ext cx="3500000" cy="3600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0000" y="2220000"/>
            <a:ext cx="3340000" cy="3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Контекст 1–2M токенов
• Reasoning 94.1%
• Мультимодальность (видео, аудио)
• Глубокая интеграция 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000" y="59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77788"/>
                </a:solidFill>
              </a:rPr>
              <a:t>Цена: $20/мес у всех трёх   |   Источник: tech-insider.org, апрель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Сравнение по задачам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0000" y="1200000"/>
            <a:ext cx="3000000" cy="48000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0000" y="1300000"/>
            <a:ext cx="28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Задача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0000" y="1200000"/>
            <a:ext cx="2500000" cy="480000"/>
          </a:xfrm>
          <a:prstGeom prst="rect">
            <a:avLst/>
          </a:prstGeom>
          <a:solidFill>
            <a:srgbClr val="4E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40000" y="1300000"/>
            <a:ext cx="23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0" y="1200000"/>
            <a:ext cx="2700000" cy="48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00000" y="1300000"/>
            <a:ext cx="25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0000" y="1200000"/>
            <a:ext cx="2600000" cy="480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0000" y="1300000"/>
            <a:ext cx="24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1720000"/>
            <a:ext cx="30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0000" y="1820000"/>
            <a:ext cx="28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E0E0"/>
                </a:solidFill>
              </a:rPr>
              <a:t>Код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0000" y="1720000"/>
            <a:ext cx="25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40000" y="1820000"/>
            <a:ext cx="23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0" y="1720000"/>
            <a:ext cx="27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00000" y="1820000"/>
            <a:ext cx="25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0000" y="1720000"/>
            <a:ext cx="26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0000" y="1820000"/>
            <a:ext cx="24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2240000"/>
            <a:ext cx="30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0000" y="2340000"/>
            <a:ext cx="28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E0E0"/>
                </a:solidFill>
              </a:rPr>
              <a:t>Рассуждения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0000" y="2240000"/>
            <a:ext cx="25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40000" y="2340000"/>
            <a:ext cx="23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2240000"/>
            <a:ext cx="27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0000" y="2340000"/>
            <a:ext cx="25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0000" y="2240000"/>
            <a:ext cx="26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0000" y="2340000"/>
            <a:ext cx="24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000" y="2760000"/>
            <a:ext cx="30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0000" y="2860000"/>
            <a:ext cx="28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E0E0"/>
                </a:solidFill>
              </a:rPr>
              <a:t>Большие документы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0000" y="2760000"/>
            <a:ext cx="25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40000" y="2860000"/>
            <a:ext cx="23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2760000"/>
            <a:ext cx="27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00000" y="2860000"/>
            <a:ext cx="25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0000" y="2760000"/>
            <a:ext cx="26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0000" y="2860000"/>
            <a:ext cx="24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000" y="3280000"/>
            <a:ext cx="30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0000" y="3380000"/>
            <a:ext cx="28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E0E0"/>
                </a:solidFill>
              </a:rPr>
              <a:t>Мультимодальность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0000" y="3280000"/>
            <a:ext cx="25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40000" y="3380000"/>
            <a:ext cx="23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0000" y="3280000"/>
            <a:ext cx="27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00000" y="3380000"/>
            <a:ext cx="25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80000" y="3280000"/>
            <a:ext cx="26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0000" y="3380000"/>
            <a:ext cx="24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000" y="3800000"/>
            <a:ext cx="30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0000" y="3900000"/>
            <a:ext cx="28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E0E0"/>
                </a:solidFill>
              </a:rPr>
              <a:t>Экосистема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0000" y="3800000"/>
            <a:ext cx="25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40000" y="3900000"/>
            <a:ext cx="23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0000" y="3800000"/>
            <a:ext cx="27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00000" y="3900000"/>
            <a:ext cx="25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80000" y="3800000"/>
            <a:ext cx="2600000" cy="480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0000" y="3900000"/>
            <a:ext cx="24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0000" y="4320000"/>
            <a:ext cx="30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0000" y="4420000"/>
            <a:ext cx="28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E0E0"/>
                </a:solidFill>
              </a:rPr>
              <a:t>Computer Use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0000" y="4320000"/>
            <a:ext cx="25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40000" y="4420000"/>
            <a:ext cx="23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☆☆☆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0000" y="4320000"/>
            <a:ext cx="27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00000" y="4420000"/>
            <a:ext cx="25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80000" y="4320000"/>
            <a:ext cx="2600000" cy="480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60000" y="4420000"/>
            <a:ext cx="24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★★☆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0000" y="570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CCFF"/>
                </a:solidFill>
              </a:rPr>
              <a:t>Вывод: Claude → код и текст  •  ChatGPT → универсальность и агенты  •  Gemini → большие документы и Google-экосистема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964</Words>
  <Application>Microsoft Macintosh PowerPoint</Application>
  <PresentationFormat>Широкоэкранный</PresentationFormat>
  <Paragraphs>159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Тема Office</vt:lpstr>
      <vt:lpstr>Лекция 3</vt:lpstr>
      <vt:lpstr>План на сегодня</vt:lpstr>
      <vt:lpstr>Задачи нейросетей #1</vt:lpstr>
      <vt:lpstr>Традиционный подход</vt:lpstr>
      <vt:lpstr>Задачи нейросетей #2</vt:lpstr>
      <vt:lpstr>А в чем смысл всего этого?</vt:lpstr>
      <vt:lpstr>А в чем смысл всего этого? #2</vt:lpstr>
      <vt:lpstr>История LLM</vt:lpstr>
      <vt:lpstr>История LLM Алгоритмический хардкод</vt:lpstr>
      <vt:lpstr>История LLM Статистический подход</vt:lpstr>
      <vt:lpstr>История LLM embeddings</vt:lpstr>
      <vt:lpstr>История LLM transformers</vt:lpstr>
      <vt:lpstr>История LLM transformers</vt:lpstr>
      <vt:lpstr>История LLM transformers (пример)</vt:lpstr>
      <vt:lpstr>История LLM transformers (сравнение)</vt:lpstr>
      <vt:lpstr>История LLM transformers (attention)</vt:lpstr>
      <vt:lpstr>История LLM transformers (Архитектура LLM)</vt:lpstr>
      <vt:lpstr>История LLM transformers (attention)</vt:lpstr>
      <vt:lpstr>История LLM transformers (TFIDF)</vt:lpstr>
      <vt:lpstr>История LLM transformers (Q,K,V)</vt:lpstr>
      <vt:lpstr>История LLM transformers (Q,K,V)</vt:lpstr>
      <vt:lpstr>История LLM transformers (ChatGPT3)</vt:lpstr>
      <vt:lpstr>Рынок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fj975</dc:creator>
  <cp:lastModifiedBy>fj975</cp:lastModifiedBy>
  <cp:revision>6</cp:revision>
  <dcterms:created xsi:type="dcterms:W3CDTF">2026-04-10T04:12:45Z</dcterms:created>
  <dcterms:modified xsi:type="dcterms:W3CDTF">2026-04-10T11:01:47Z</dcterms:modified>
</cp:coreProperties>
</file>