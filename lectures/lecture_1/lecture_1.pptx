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4" r:id="rId3"/>
    <p:sldId id="283" r:id="rId4"/>
    <p:sldId id="257" r:id="rId5"/>
    <p:sldId id="258" r:id="rId6"/>
    <p:sldId id="259" r:id="rId7"/>
    <p:sldId id="260" r:id="rId8"/>
    <p:sldId id="261" r:id="rId9"/>
    <p:sldId id="262" r:id="rId10"/>
    <p:sldId id="266" r:id="rId11"/>
    <p:sldId id="267" r:id="rId12"/>
    <p:sldId id="264" r:id="rId13"/>
    <p:sldId id="268" r:id="rId14"/>
    <p:sldId id="269" r:id="rId15"/>
    <p:sldId id="270" r:id="rId16"/>
    <p:sldId id="271" r:id="rId17"/>
    <p:sldId id="263" r:id="rId18"/>
    <p:sldId id="272" r:id="rId19"/>
    <p:sldId id="273" r:id="rId20"/>
    <p:sldId id="274" r:id="rId21"/>
    <p:sldId id="275" r:id="rId22"/>
    <p:sldId id="276" r:id="rId23"/>
    <p:sldId id="277" r:id="rId24"/>
    <p:sldId id="282" r:id="rId25"/>
    <p:sldId id="281" r:id="rId26"/>
    <p:sldId id="280" r:id="rId27"/>
    <p:sldId id="279" r:id="rId2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DEF200-5950-B44B-F416-D159982DB7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B245FA7-8A40-3ED6-C914-FA82BB48F6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1D57710-E280-7FD2-38C0-8483F191F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8F130-CAD1-9A4B-87AA-771C4BD74B94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481051D-E473-7490-AFC3-F3530613B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30B3543-0B31-8EF7-752A-154AD2178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73AA9-5229-E847-90FD-DF42FDE331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37020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F3D875-E9CA-209C-A830-3CC211A8A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93DE414-D4C0-37F0-F754-100FE93A46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D47A6AE-D1F8-F793-C686-268447582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8F130-CAD1-9A4B-87AA-771C4BD74B94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CCD3D8E-A101-912C-09DD-83790E54C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F304F6F-21D8-D3DA-B1BB-0ED2FF446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73AA9-5229-E847-90FD-DF42FDE331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9322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451599-9C20-90F1-454D-EE25FCDFE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EB5FDA8-89F4-82FC-C751-A83A57D59D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A50D9FC-EFE5-A5A7-6FDE-210F63945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8F130-CAD1-9A4B-87AA-771C4BD74B94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E839B6C-C989-245A-BE64-4BD91655A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AAD7077-F3E3-B977-E124-ACD07BA1B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73AA9-5229-E847-90FD-DF42FDE331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24245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5B0152-0E8F-A4D7-4E31-9E7D85A24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16DA706-6340-FF0F-1A0E-4A46E6E801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438739C-8104-980D-330E-4F19A96551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C976F5B-C2A7-BB6A-6E0A-41F1B140E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8F130-CAD1-9A4B-87AA-771C4BD74B94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45056BF-D809-DFCD-7152-1111CB04A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74D957E-DDA4-CCFE-5783-DCEA8EB14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73AA9-5229-E847-90FD-DF42FDE331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0684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0DB945-097E-BF57-2D10-66FBAC5BE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BE4925A-7FA5-23FA-3408-0207EB2390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04D7F19-A930-76C2-9387-FDCF56BDAD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5FFFAAE-0BC9-176F-0E04-1E61DB7963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ACACBF8-A46E-5A2D-2D18-FDF1F20741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F75E671-C1B9-22AE-A790-6B3B18248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8F130-CAD1-9A4B-87AA-771C4BD74B94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3D20114-F8F7-692B-B498-19F5D2031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D487302-BB55-CA6E-6074-AC9887682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73AA9-5229-E847-90FD-DF42FDE331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203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2F37A7-7979-79BF-54D2-9AA1FC67E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224AE80-39A1-A925-CA8A-468AA4C91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8F130-CAD1-9A4B-87AA-771C4BD74B94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93452A0-4373-EB6F-D28C-9026F22A1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5878518-2DAE-FD85-7A04-D6D1A4B55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73AA9-5229-E847-90FD-DF42FDE331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8608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6254269-FCB8-D3E8-D8DF-F50BD0E43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8F130-CAD1-9A4B-87AA-771C4BD74B94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E9692CB-B6DC-5BD2-73A0-217E82FD2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857CD11-3EBE-5EEB-AE29-B5954EFC4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73AA9-5229-E847-90FD-DF42FDE331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34825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DBAE2B-AF49-0167-004C-2EB87000B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79AEEB6-F7BA-5F99-D690-8F0CDB5AE8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F865BF5-93AF-76A7-3878-41BE2A083B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8AB3018-29B9-390A-76A1-532574FB4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8F130-CAD1-9A4B-87AA-771C4BD74B94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37DFA10-5E8E-CE00-7FC6-D3934A25C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1B8AA3D-7423-BABA-834A-248999C7B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73AA9-5229-E847-90FD-DF42FDE331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7446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8E3B94-302F-2320-1AF1-FD7922D22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BE53293-8219-FAF2-BC99-6F99B76437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7AA4D6A-A91E-9683-C134-E11D0D8C4C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CED8D4C-5F45-D946-4F8A-D3F958DA2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8F130-CAD1-9A4B-87AA-771C4BD74B94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C46C00D-1C52-D860-0C93-04762AF28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71DD66A-50FB-7B74-375C-208426784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73AA9-5229-E847-90FD-DF42FDE331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55736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25FD36-ABCA-32AA-1D06-909B4EC91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58730F8-8214-EE9B-F7C6-B27C43774A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0DD1869-14D6-259C-2C57-FD744742B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8F130-CAD1-9A4B-87AA-771C4BD74B94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CDB894E-37A4-C685-25A9-59433A420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B484389-A5FB-DA65-86FC-3CA1691FE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73AA9-5229-E847-90FD-DF42FDE331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331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C24BF7F-A46F-3DC5-AB84-71058B6FF2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0234545-8344-55FE-0F57-A9223EFA6D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1E955D0-05FA-DE91-11BE-9D0CAE3D0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8F130-CAD1-9A4B-87AA-771C4BD74B94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EA3A7C9-CBBB-A9D4-EA37-B5EA9DA5D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3B3C9D1-9D1F-D0F2-7FE1-64F577BAE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73AA9-5229-E847-90FD-DF42FDE331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95611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DFDDEA-A450-39F7-179C-A1857D463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734423C-BE68-6195-5AF1-10B84126B0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18C8024-644C-C661-5C2C-573CFCF699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38F130-CAD1-9A4B-87AA-771C4BD74B94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27E61EC-92F0-F630-EB18-1F0A1A9C83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E948572-0369-FACB-CD76-59202D67EE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E73AA9-5229-E847-90FD-DF42FDE331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3295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vladivostok.hh.ru/search/vacancy?hhtmFrom=main&amp;hhtmFromLabel=vacancy_search_line&amp;text=NLP&amp;search_field=name&amp;search_field=company_name&amp;search_field=description&amp;enable_snippets=true&amp;L_save_area=true" TargetMode="External"/><Relationship Id="rId2" Type="http://schemas.openxmlformats.org/officeDocument/2006/relationships/hyperlink" Target="https://github.com/Letch49/semantic-vvsu-2026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F3970F-EC71-53F2-1AC7-5FBE4CA768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Методы обработки семантической информации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385F644-D5B4-7FE1-7DE0-EF0145038B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Лекция 1</a:t>
            </a:r>
            <a:r>
              <a:rPr lang="en-US" dirty="0"/>
              <a:t> – </a:t>
            </a:r>
            <a:r>
              <a:rPr lang="ru-RU" dirty="0"/>
              <a:t>Что такое </a:t>
            </a:r>
            <a:r>
              <a:rPr lang="en-US" dirty="0"/>
              <a:t>NLP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16108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19BE1-09E4-6ACF-ED97-95E06C917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DC1A22-1118-BE88-CCC5-323EC5485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 лекции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1181FBD-285C-5295-1BAB-1CE14EAAEC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Правки к задачам</a:t>
            </a:r>
            <a:r>
              <a:rPr lang="en-US" dirty="0"/>
              <a:t> (-</a:t>
            </a:r>
            <a:r>
              <a:rPr lang="ru-RU" dirty="0"/>
              <a:t>50</a:t>
            </a:r>
            <a:r>
              <a:rPr lang="en-US" dirty="0"/>
              <a:t>%</a:t>
            </a:r>
            <a:r>
              <a:rPr lang="en-US" dirty="0">
                <a:sym typeface="Wingdings" pitchFamily="2" charset="2"/>
              </a:rPr>
              <a:t>) </a:t>
            </a:r>
            <a:r>
              <a:rPr lang="en-US" dirty="0">
                <a:sym typeface="Wingdings" pitchFamily="2" charset="2"/>
                <a:hlinkClick r:id="rId2"/>
              </a:rPr>
              <a:t>https://github.com/Letch49/semantic-vvsu-2026</a:t>
            </a:r>
            <a:r>
              <a:rPr lang="en-US" dirty="0">
                <a:sym typeface="Wingdings" pitchFamily="2" charset="2"/>
              </a:rPr>
              <a:t> </a:t>
            </a: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en" dirty="0">
                <a:hlinkClick r:id="rId3"/>
              </a:rPr>
              <a:t>https://vladivostok.hh.ru/search/vacancy?hhtmFrom=main&amp;hhtmFromLabel=vacancy_search_line&amp;text=NLP&amp;search_field=name&amp;search_field=company_name&amp;search_field=description&amp;enable_snippets=true&amp;L_save_area=true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193335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65DDB-87D6-D763-243D-EC6B6B4D8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9F44CE-3DDB-BCDD-B716-F1B6BE309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План на сегодня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342FCD2-BCAC-96AC-D822-A112272C42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Что такое </a:t>
            </a:r>
            <a:r>
              <a:rPr lang="en-US" dirty="0"/>
              <a:t>NLP</a:t>
            </a:r>
          </a:p>
          <a:p>
            <a:r>
              <a:rPr lang="ru-RU" dirty="0"/>
              <a:t>Обзор задач </a:t>
            </a:r>
            <a:r>
              <a:rPr lang="en-US" dirty="0"/>
              <a:t>NLP</a:t>
            </a:r>
          </a:p>
          <a:p>
            <a:r>
              <a:rPr lang="ru-RU" dirty="0"/>
              <a:t>Методы анализа текстов</a:t>
            </a:r>
          </a:p>
          <a:p>
            <a:r>
              <a:rPr lang="ru-RU" dirty="0"/>
              <a:t>Векторизация</a:t>
            </a:r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72828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E2B917-5608-9146-E705-0F7551ED2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План на сегодня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5796D77-0752-9660-08D6-9502FF5978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Что такое </a:t>
            </a:r>
            <a:r>
              <a:rPr lang="en-US" dirty="0"/>
              <a:t>NLP</a:t>
            </a:r>
          </a:p>
          <a:p>
            <a:r>
              <a:rPr lang="ru-RU" dirty="0"/>
              <a:t>Обзор задач </a:t>
            </a:r>
            <a:r>
              <a:rPr lang="en-US" dirty="0"/>
              <a:t>NLP</a:t>
            </a:r>
          </a:p>
          <a:p>
            <a:r>
              <a:rPr lang="ru-RU" dirty="0"/>
              <a:t>Методы анализа текстов</a:t>
            </a:r>
          </a:p>
          <a:p>
            <a:r>
              <a:rPr lang="ru-RU" dirty="0"/>
              <a:t>Векторизация</a:t>
            </a:r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45702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F5217A-A53B-5853-7277-8F10B1713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NLP (natural language processing)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E6D053E-5212-192A-4872-1A7342F4E1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NLP – </a:t>
            </a:r>
            <a:r>
              <a:rPr lang="ru-RU" dirty="0"/>
              <a:t>область ИИ</a:t>
            </a:r>
            <a:r>
              <a:rPr lang="en-US" dirty="0"/>
              <a:t>, </a:t>
            </a:r>
            <a:r>
              <a:rPr lang="ru-RU" dirty="0"/>
              <a:t>задачи которой – дать компьютерам возможность понимать и обрабатывать естественный текст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ru-RU" dirty="0"/>
              <a:t>Задачи </a:t>
            </a:r>
            <a:r>
              <a:rPr lang="en-US" dirty="0"/>
              <a:t>NLP:</a:t>
            </a:r>
          </a:p>
          <a:p>
            <a:pPr>
              <a:buFontTx/>
              <a:buChar char="-"/>
            </a:pPr>
            <a:r>
              <a:rPr lang="ru-RU" dirty="0"/>
              <a:t>Определение смысла слова</a:t>
            </a:r>
          </a:p>
          <a:p>
            <a:pPr>
              <a:buFontTx/>
              <a:buChar char="-"/>
            </a:pPr>
            <a:r>
              <a:rPr lang="ru-RU" dirty="0"/>
              <a:t>Анализ эмоционального окраса</a:t>
            </a:r>
          </a:p>
          <a:p>
            <a:pPr>
              <a:buFontTx/>
              <a:buChar char="-"/>
            </a:pPr>
            <a:r>
              <a:rPr lang="ru-RU" dirty="0"/>
              <a:t>Распознавание именованных сущностей</a:t>
            </a:r>
          </a:p>
          <a:p>
            <a:pPr>
              <a:buFontTx/>
              <a:buChar char="-"/>
            </a:pPr>
            <a:r>
              <a:rPr lang="ru-RU" dirty="0"/>
              <a:t>Генерация естественного языка </a:t>
            </a:r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(об этом позже)</a:t>
            </a:r>
          </a:p>
          <a:p>
            <a:pPr>
              <a:buFontTx/>
              <a:buChar char="-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707982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04E3CB-6755-4D6A-9ABE-19317250C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Примеры выполнения задач </a:t>
            </a:r>
            <a:r>
              <a:rPr lang="en-US" dirty="0"/>
              <a:t>NLP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B023908-400F-4DC1-4942-F05B2D6781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notebook_1_examples.ipynb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58352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DB78C0-6E18-B2AB-D4DA-EF17DF718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Методы анализа текстов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CCB0299-3336-6B26-628F-7BBC4BFAA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В обработке текстовых данных выделяют несколько этапов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>
              <a:buFontTx/>
              <a:buChar char="-"/>
            </a:pPr>
            <a:r>
              <a:rPr lang="ru-RU" dirty="0"/>
              <a:t>Токенизация (выделение абзацев</a:t>
            </a:r>
            <a:r>
              <a:rPr lang="en-US" dirty="0"/>
              <a:t>, </a:t>
            </a:r>
            <a:r>
              <a:rPr lang="ru-RU" dirty="0"/>
              <a:t>предложений</a:t>
            </a:r>
            <a:r>
              <a:rPr lang="en-US" dirty="0"/>
              <a:t>, </a:t>
            </a:r>
            <a:r>
              <a:rPr lang="ru-RU" dirty="0"/>
              <a:t>токенов)</a:t>
            </a:r>
          </a:p>
          <a:p>
            <a:pPr>
              <a:buFontTx/>
              <a:buChar char="-"/>
            </a:pPr>
            <a:r>
              <a:rPr lang="ru-RU" dirty="0"/>
              <a:t>Морфологический анализ (</a:t>
            </a:r>
            <a:r>
              <a:rPr lang="ru-RU" dirty="0" err="1"/>
              <a:t>стемминг</a:t>
            </a:r>
            <a:r>
              <a:rPr lang="ru-RU" dirty="0"/>
              <a:t> </a:t>
            </a:r>
            <a:r>
              <a:rPr lang="ru-RU" dirty="0" err="1"/>
              <a:t>лемматизация</a:t>
            </a:r>
            <a:r>
              <a:rPr lang="ru-RU" dirty="0"/>
              <a:t>)</a:t>
            </a:r>
          </a:p>
          <a:p>
            <a:pPr>
              <a:buFontTx/>
              <a:buChar char="-"/>
            </a:pPr>
            <a:r>
              <a:rPr lang="ru-RU" dirty="0"/>
              <a:t>Синтаксический анализ – определение связи между словами</a:t>
            </a:r>
          </a:p>
          <a:p>
            <a:pPr>
              <a:buFontTx/>
              <a:buChar char="-"/>
            </a:pPr>
            <a:r>
              <a:rPr lang="ru-RU" dirty="0"/>
              <a:t>Семантический анализ – определение смысл слова и работа с ним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54342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7BB3A5-9D05-F1FE-B6A9-53325CB4E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Токенизация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D808B8E-13A6-410B-C51B-531C42DE0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Токенизация – разбиение текста на части (абзацы </a:t>
            </a:r>
            <a:r>
              <a:rPr lang="en-US" dirty="0"/>
              <a:t>-&gt;</a:t>
            </a:r>
            <a:r>
              <a:rPr lang="ru-RU" dirty="0"/>
              <a:t> предложения</a:t>
            </a:r>
            <a:r>
              <a:rPr lang="en-US" dirty="0"/>
              <a:t>, </a:t>
            </a:r>
            <a:r>
              <a:rPr lang="ru-RU" dirty="0"/>
              <a:t>слова </a:t>
            </a:r>
            <a:r>
              <a:rPr lang="en-US" dirty="0"/>
              <a:t>-&gt; </a:t>
            </a:r>
            <a:r>
              <a:rPr lang="ru-RU" dirty="0"/>
              <a:t>токены)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Смысл в том</a:t>
            </a:r>
            <a:r>
              <a:rPr lang="en-US" dirty="0"/>
              <a:t>, </a:t>
            </a:r>
            <a:r>
              <a:rPr lang="ru-RU" dirty="0"/>
              <a:t>что </a:t>
            </a:r>
            <a:r>
              <a:rPr lang="en-US" dirty="0"/>
              <a:t>NLP</a:t>
            </a:r>
            <a:r>
              <a:rPr lang="ru-RU" dirty="0"/>
              <a:t> модели</a:t>
            </a:r>
            <a:r>
              <a:rPr lang="en-US" dirty="0"/>
              <a:t> </a:t>
            </a:r>
            <a:r>
              <a:rPr lang="ru-RU" dirty="0"/>
              <a:t>работают с отдельными единицами текста (токенами</a:t>
            </a:r>
            <a:r>
              <a:rPr lang="en-US" dirty="0"/>
              <a:t>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778133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3B43A-B635-EAB9-31BC-FA9CE3E87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AEA3BA-2409-5AC0-6243-448DC762B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Токенизация (примеры)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8A91AD2-7561-71AB-E02E-C5180CE4CE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NLP </a:t>
            </a:r>
            <a:r>
              <a:rPr lang="ru-RU" dirty="0"/>
              <a:t>помогает анализировать тексты</a:t>
            </a:r>
            <a:r>
              <a:rPr lang="en-US" dirty="0"/>
              <a:t>. </a:t>
            </a:r>
            <a:r>
              <a:rPr lang="ru-RU" dirty="0"/>
              <a:t>Это полезно для бизнеса!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Разделение на предложения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- NLP </a:t>
            </a:r>
            <a:r>
              <a:rPr lang="ru-RU" dirty="0"/>
              <a:t>помогает анализировать бизнес</a:t>
            </a:r>
          </a:p>
          <a:p>
            <a:pPr>
              <a:buFontTx/>
              <a:buChar char="-"/>
            </a:pPr>
            <a:r>
              <a:rPr lang="ru-RU" dirty="0"/>
              <a:t>Это полезно для бизнеса</a:t>
            </a:r>
          </a:p>
          <a:p>
            <a:pPr>
              <a:buFontTx/>
              <a:buChar char="-"/>
            </a:pPr>
            <a:endParaRPr lang="ru-RU" dirty="0"/>
          </a:p>
          <a:p>
            <a:pPr marL="0" indent="0">
              <a:buNone/>
            </a:pPr>
            <a:r>
              <a:rPr lang="ru-RU" dirty="0"/>
              <a:t>Токены</a:t>
            </a:r>
            <a:r>
              <a:rPr lang="en-US" dirty="0"/>
              <a:t>:</a:t>
            </a:r>
          </a:p>
          <a:p>
            <a:pPr>
              <a:buFontTx/>
              <a:buChar char="-"/>
            </a:pPr>
            <a:r>
              <a:rPr lang="en-US" dirty="0"/>
              <a:t>[‘NLP’, ’</a:t>
            </a:r>
            <a:r>
              <a:rPr lang="ru-RU" dirty="0"/>
              <a:t>помогает</a:t>
            </a:r>
            <a:r>
              <a:rPr lang="en-US" dirty="0"/>
              <a:t>’, ‘</a:t>
            </a:r>
            <a:r>
              <a:rPr lang="ru-RU" dirty="0"/>
              <a:t>анализировать</a:t>
            </a:r>
            <a:r>
              <a:rPr lang="en-US" dirty="0"/>
              <a:t>’, ‘</a:t>
            </a:r>
            <a:r>
              <a:rPr lang="ru-RU" dirty="0"/>
              <a:t>бизнес</a:t>
            </a:r>
            <a:r>
              <a:rPr lang="en-US" dirty="0"/>
              <a:t>’]</a:t>
            </a:r>
            <a:endParaRPr lang="ru-RU" dirty="0"/>
          </a:p>
          <a:p>
            <a:pPr>
              <a:buFontTx/>
              <a:buChar char="-"/>
            </a:pPr>
            <a:r>
              <a:rPr lang="en-US" dirty="0"/>
              <a:t>[‘</a:t>
            </a:r>
            <a:r>
              <a:rPr lang="ru-RU" dirty="0"/>
              <a:t>Это</a:t>
            </a:r>
            <a:r>
              <a:rPr lang="en-US" dirty="0"/>
              <a:t>’, ’</a:t>
            </a:r>
            <a:r>
              <a:rPr lang="ru-RU" dirty="0"/>
              <a:t>полезно</a:t>
            </a:r>
            <a:r>
              <a:rPr lang="en-US" dirty="0"/>
              <a:t>’, ‘</a:t>
            </a:r>
            <a:r>
              <a:rPr lang="ru-RU" dirty="0"/>
              <a:t>для</a:t>
            </a:r>
            <a:r>
              <a:rPr lang="en-US" dirty="0"/>
              <a:t>’, ‘</a:t>
            </a:r>
            <a:r>
              <a:rPr lang="ru-RU" dirty="0"/>
              <a:t>бизнеса</a:t>
            </a:r>
            <a:r>
              <a:rPr lang="en-US" dirty="0"/>
              <a:t>’]</a:t>
            </a: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346683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21B24-5B27-D212-C271-CFD0EA7F6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433422-E35B-8C39-D8DF-EC8137C86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Морфологический анализ (примеры)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2731194-5D38-705C-BF89-AE5EC388B1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Студенты быстро решали задачи</a:t>
            </a:r>
            <a:r>
              <a:rPr lang="en-US" dirty="0"/>
              <a:t>.</a:t>
            </a: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ВОПРОС</a:t>
            </a:r>
            <a:r>
              <a:rPr lang="en-US" dirty="0"/>
              <a:t>: </a:t>
            </a:r>
            <a:r>
              <a:rPr lang="ru-RU" dirty="0"/>
              <a:t>какие части речи тут</a:t>
            </a:r>
            <a:r>
              <a:rPr lang="en-US" dirty="0"/>
              <a:t>?</a:t>
            </a: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945256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6EFC4-E1FD-FE2A-5F5A-5BDC9E4E6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798C09-4499-A326-95E9-FDC65B615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Морфологический анализ </a:t>
            </a:r>
            <a:br>
              <a:rPr lang="ru-RU" dirty="0"/>
            </a:br>
            <a:r>
              <a:rPr lang="ru-RU" sz="1800" dirty="0"/>
              <a:t>(немного правил русского языка)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C51072E-76EC-0D7A-9CAA-0270EF05FF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Студенты быстро решали задачи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ru-RU" dirty="0"/>
              <a:t>Студенты </a:t>
            </a:r>
            <a:r>
              <a:rPr lang="en-US" dirty="0"/>
              <a:t>-&gt; </a:t>
            </a:r>
            <a:r>
              <a:rPr lang="ru-RU" dirty="0"/>
              <a:t>существительное</a:t>
            </a:r>
            <a:r>
              <a:rPr lang="en-US" dirty="0"/>
              <a:t>, </a:t>
            </a:r>
            <a:r>
              <a:rPr lang="ru-RU" dirty="0" err="1"/>
              <a:t>мн</a:t>
            </a:r>
            <a:r>
              <a:rPr lang="en-US" dirty="0"/>
              <a:t>. </a:t>
            </a:r>
            <a:r>
              <a:rPr lang="ru-RU" dirty="0"/>
              <a:t>Число</a:t>
            </a:r>
            <a:r>
              <a:rPr lang="en-US" dirty="0"/>
              <a:t>, </a:t>
            </a:r>
            <a:r>
              <a:rPr lang="ru-RU" dirty="0"/>
              <a:t>именительный падеж</a:t>
            </a:r>
          </a:p>
          <a:p>
            <a:pPr marL="0" indent="0">
              <a:buNone/>
            </a:pPr>
            <a:r>
              <a:rPr lang="ru-RU" dirty="0"/>
              <a:t>Быстро (как) </a:t>
            </a:r>
            <a:r>
              <a:rPr lang="en-US" dirty="0"/>
              <a:t>-&gt; </a:t>
            </a:r>
            <a:r>
              <a:rPr lang="ru-RU" dirty="0"/>
              <a:t>наречие</a:t>
            </a:r>
          </a:p>
          <a:p>
            <a:pPr marL="0" indent="0">
              <a:buNone/>
            </a:pPr>
            <a:r>
              <a:rPr lang="ru-RU" dirty="0"/>
              <a:t>Решали </a:t>
            </a:r>
            <a:r>
              <a:rPr lang="en-US" dirty="0"/>
              <a:t>-&gt; </a:t>
            </a:r>
            <a:r>
              <a:rPr lang="ru-RU" dirty="0"/>
              <a:t>глагол</a:t>
            </a:r>
            <a:r>
              <a:rPr lang="en-US" dirty="0"/>
              <a:t>, </a:t>
            </a:r>
            <a:r>
              <a:rPr lang="ru-RU" dirty="0" err="1"/>
              <a:t>прош</a:t>
            </a:r>
            <a:r>
              <a:rPr lang="en-US" dirty="0"/>
              <a:t>. </a:t>
            </a:r>
            <a:r>
              <a:rPr lang="ru-RU" dirty="0" err="1"/>
              <a:t>Вр</a:t>
            </a:r>
            <a:r>
              <a:rPr lang="en-US" dirty="0"/>
              <a:t>, </a:t>
            </a:r>
            <a:r>
              <a:rPr lang="ru-RU" dirty="0" err="1"/>
              <a:t>мн</a:t>
            </a:r>
            <a:r>
              <a:rPr lang="en-US" dirty="0"/>
              <a:t>. </a:t>
            </a:r>
            <a:r>
              <a:rPr lang="ru-RU" dirty="0"/>
              <a:t>Число</a:t>
            </a:r>
          </a:p>
          <a:p>
            <a:pPr marL="0" indent="0">
              <a:buNone/>
            </a:pPr>
            <a:r>
              <a:rPr lang="ru-RU" dirty="0"/>
              <a:t>Задачи</a:t>
            </a:r>
            <a:r>
              <a:rPr lang="en-US" dirty="0"/>
              <a:t> -&gt; </a:t>
            </a:r>
            <a:r>
              <a:rPr lang="ru-RU" dirty="0"/>
              <a:t>сущ</a:t>
            </a:r>
            <a:r>
              <a:rPr lang="en-US" dirty="0"/>
              <a:t>., </a:t>
            </a:r>
            <a:r>
              <a:rPr lang="ru-RU" dirty="0" err="1"/>
              <a:t>мн</a:t>
            </a:r>
            <a:r>
              <a:rPr lang="en-US" dirty="0"/>
              <a:t>.</a:t>
            </a:r>
            <a:r>
              <a:rPr lang="ru-RU" dirty="0"/>
              <a:t> Число</a:t>
            </a:r>
            <a:r>
              <a:rPr lang="en-US" dirty="0"/>
              <a:t>, </a:t>
            </a:r>
            <a:r>
              <a:rPr lang="ru-RU" dirty="0"/>
              <a:t>винительный падеж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В результате для каждого слова есть</a:t>
            </a:r>
            <a:r>
              <a:rPr lang="en-US" dirty="0"/>
              <a:t>: </a:t>
            </a:r>
            <a:r>
              <a:rPr lang="ru-RU" dirty="0"/>
              <a:t>лемма и </a:t>
            </a:r>
            <a:r>
              <a:rPr lang="ru-RU" dirty="0" err="1"/>
              <a:t>граматические</a:t>
            </a:r>
            <a:r>
              <a:rPr lang="ru-RU" dirty="0"/>
              <a:t> теги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77992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B9428F-5896-5B5C-4B76-23DC766B6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Синтаксический анализ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B8083C2-1223-AF40-7A58-DA5255C048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Задача – определить как связан текст</a:t>
            </a:r>
            <a:r>
              <a:rPr lang="en-US" dirty="0"/>
              <a:t>.</a:t>
            </a:r>
            <a:r>
              <a:rPr lang="ru-RU" dirty="0"/>
              <a:t> Решение – синтаксический анализ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Отвечает на основные вопросы (кто выполняет</a:t>
            </a:r>
            <a:r>
              <a:rPr lang="en-US" dirty="0"/>
              <a:t>, </a:t>
            </a:r>
            <a:r>
              <a:rPr lang="ru-RU" dirty="0"/>
              <a:t>что выполняет</a:t>
            </a:r>
            <a:r>
              <a:rPr lang="en-US" dirty="0"/>
              <a:t>, </a:t>
            </a:r>
            <a:r>
              <a:rPr lang="ru-RU" dirty="0"/>
              <a:t>что является определением</a:t>
            </a:r>
            <a:r>
              <a:rPr lang="en-US" dirty="0"/>
              <a:t>, </a:t>
            </a:r>
            <a:r>
              <a:rPr lang="ru-RU" dirty="0"/>
              <a:t>а что дополнением</a:t>
            </a:r>
            <a:r>
              <a:rPr lang="en-US" dirty="0"/>
              <a:t>.</a:t>
            </a: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Помогает</a:t>
            </a:r>
            <a:r>
              <a:rPr lang="en-US" dirty="0"/>
              <a:t>: </a:t>
            </a:r>
            <a:r>
              <a:rPr lang="ru-RU" dirty="0"/>
              <a:t>понять структуру предложения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73022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62920-4A45-B86A-171C-943699B9F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B9862B-EAD5-B6FD-58F0-653E68E74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Синтаксический анализ</a:t>
            </a:r>
          </a:p>
        </p:txBody>
      </p:sp>
      <p:pic>
        <p:nvPicPr>
          <p:cNvPr id="1026" name="Picture 2" descr="Синтаксический разбор предложения: примеры и инструкции">
            <a:extLst>
              <a:ext uri="{FF2B5EF4-FFF2-40B4-BE49-F238E27FC236}">
                <a16:creationId xmlns:a16="http://schemas.microsoft.com/office/drawing/2014/main" id="{BD99FAD8-7460-0AA4-0821-A337E6DA9A0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2336" y="1844496"/>
            <a:ext cx="7127328" cy="4077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44166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B53A2-DCD2-21E2-0FFD-8FA42333B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1EF82D-2CDA-4B4C-E50F-DA95D9890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Синтаксический анализ (пример)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0BF2A46-268A-0167-1893-21CE4AD03B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Студент читает интересную книгу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ru-RU" dirty="0"/>
              <a:t>ВОПРОС</a:t>
            </a:r>
            <a:r>
              <a:rPr lang="en-US" dirty="0"/>
              <a:t>: </a:t>
            </a:r>
            <a:r>
              <a:rPr lang="ru-RU" dirty="0"/>
              <a:t>Какие части речи</a:t>
            </a:r>
            <a:r>
              <a:rPr lang="en-US" dirty="0"/>
              <a:t>.</a:t>
            </a: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ВОПРОС</a:t>
            </a:r>
            <a:r>
              <a:rPr lang="en-US" dirty="0"/>
              <a:t> #2: </a:t>
            </a:r>
            <a:r>
              <a:rPr lang="ru-RU" dirty="0"/>
              <a:t>Что нам это дает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9175057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BD7767-4427-1CC9-C8EA-C2F233245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ED138A-46EB-DDEA-9121-A31A9ADA6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Синтаксический анализ (пример)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FE47DB7-7D86-954D-7AD1-8AE5E9263B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Студент читает интересную книгу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Студент – подлежащие</a:t>
            </a:r>
          </a:p>
          <a:p>
            <a:pPr marL="0" indent="0">
              <a:buNone/>
            </a:pPr>
            <a:r>
              <a:rPr lang="ru-RU" dirty="0"/>
              <a:t>Читает – сказуемое</a:t>
            </a:r>
          </a:p>
          <a:p>
            <a:pPr marL="0" indent="0">
              <a:buNone/>
            </a:pPr>
            <a:r>
              <a:rPr lang="ru-RU" dirty="0"/>
              <a:t>Кингу – дополнение</a:t>
            </a:r>
          </a:p>
          <a:p>
            <a:pPr marL="0" indent="0">
              <a:buNone/>
            </a:pPr>
            <a:r>
              <a:rPr lang="ru-RU" dirty="0"/>
              <a:t>Интересную – определение к дополнению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Это помогает понять зависимость дерево</a:t>
            </a:r>
            <a:r>
              <a:rPr lang="en-US" dirty="0"/>
              <a:t>/</a:t>
            </a:r>
            <a:r>
              <a:rPr lang="ru-RU" dirty="0"/>
              <a:t>граф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306469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91E7E-B592-A979-B937-25ACBEB5A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345437-D380-ED5E-F434-0EA8B7C8F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Семантический анализ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B646C6B-ED07-5945-FB0B-31C7417BF9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Семантический анализ помогает выполнить</a:t>
            </a:r>
            <a:r>
              <a:rPr lang="en-US" dirty="0"/>
              <a:t>:</a:t>
            </a:r>
          </a:p>
          <a:p>
            <a:pPr>
              <a:buFontTx/>
              <a:buChar char="-"/>
            </a:pPr>
            <a:r>
              <a:rPr lang="ru-RU" dirty="0"/>
              <a:t>извлечение смысла слова с учетом контекста</a:t>
            </a:r>
          </a:p>
          <a:p>
            <a:pPr>
              <a:buFontTx/>
              <a:buChar char="-"/>
            </a:pPr>
            <a:r>
              <a:rPr lang="ru-RU" dirty="0"/>
              <a:t>понять намерение</a:t>
            </a:r>
            <a:r>
              <a:rPr lang="en-US" dirty="0"/>
              <a:t>, </a:t>
            </a:r>
            <a:r>
              <a:rPr lang="ru-RU" dirty="0"/>
              <a:t>роль объектов</a:t>
            </a:r>
            <a:r>
              <a:rPr lang="en-US" dirty="0"/>
              <a:t>, </a:t>
            </a:r>
            <a:r>
              <a:rPr lang="ru-RU" dirty="0"/>
              <a:t>и общий смысл (о чем это</a:t>
            </a:r>
            <a:r>
              <a:rPr lang="en-US" dirty="0"/>
              <a:t>?)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Например</a:t>
            </a:r>
            <a:r>
              <a:rPr lang="en-US" dirty="0"/>
              <a:t>:</a:t>
            </a:r>
          </a:p>
          <a:p>
            <a:pPr>
              <a:buFontTx/>
              <a:buChar char="-"/>
            </a:pPr>
            <a:r>
              <a:rPr lang="ru-RU" dirty="0"/>
              <a:t>Ключ от двери</a:t>
            </a:r>
          </a:p>
          <a:p>
            <a:pPr>
              <a:buFontTx/>
              <a:buChar char="-"/>
            </a:pPr>
            <a:r>
              <a:rPr lang="ru-RU" dirty="0"/>
              <a:t>Банк одобрил кредит клиенту </a:t>
            </a:r>
          </a:p>
          <a:p>
            <a:pPr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04417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C6C51E-0F51-0FB8-9BC7-516563C99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Семантический анализ (пример)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36EC513-D437-B586-68F0-27A991BC0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Ключ от двери</a:t>
            </a:r>
          </a:p>
          <a:p>
            <a:pPr marL="0" indent="0">
              <a:buNone/>
            </a:pPr>
            <a:endParaRPr lang="ru-RU" dirty="0"/>
          </a:p>
          <a:p>
            <a:pPr>
              <a:buFontTx/>
              <a:buChar char="-"/>
            </a:pPr>
            <a:r>
              <a:rPr lang="ru-RU" dirty="0"/>
              <a:t>Ключ от двери</a:t>
            </a:r>
            <a:r>
              <a:rPr lang="en-US" dirty="0"/>
              <a:t>?</a:t>
            </a:r>
          </a:p>
          <a:p>
            <a:pPr>
              <a:buFontTx/>
              <a:buChar char="-"/>
            </a:pPr>
            <a:r>
              <a:rPr lang="ru-RU" dirty="0"/>
              <a:t>Гаечный ключ</a:t>
            </a:r>
            <a:r>
              <a:rPr lang="en-US" dirty="0"/>
              <a:t>?</a:t>
            </a:r>
          </a:p>
          <a:p>
            <a:pPr>
              <a:buFontTx/>
              <a:buChar char="-"/>
            </a:pPr>
            <a:endParaRPr lang="en-US" dirty="0"/>
          </a:p>
          <a:p>
            <a:pPr marL="0" indent="0">
              <a:buNone/>
            </a:pPr>
            <a:r>
              <a:rPr lang="ru-RU" dirty="0"/>
              <a:t>Смысл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- </a:t>
            </a:r>
            <a:r>
              <a:rPr lang="ru-RU" dirty="0"/>
              <a:t>Понять а какой семантический смысл у слов и что именно это означает</a:t>
            </a:r>
            <a:r>
              <a:rPr lang="en-US" dirty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776226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A1EF6-F689-5903-ECDB-14D13577F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EF63AA-3FFA-DD86-6EF7-6A0DB5899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Семантический анализ (пример)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80899E9-8B2E-5BDD-B10A-12EE84B0C6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Ключ от двери</a:t>
            </a:r>
          </a:p>
          <a:p>
            <a:pPr marL="0" indent="0">
              <a:buNone/>
            </a:pPr>
            <a:endParaRPr lang="ru-RU" dirty="0"/>
          </a:p>
          <a:p>
            <a:pPr>
              <a:buFontTx/>
              <a:buChar char="-"/>
            </a:pPr>
            <a:r>
              <a:rPr lang="ru-RU" dirty="0"/>
              <a:t>Ключ от двери</a:t>
            </a:r>
            <a:r>
              <a:rPr lang="en-US" dirty="0"/>
              <a:t>?</a:t>
            </a:r>
          </a:p>
          <a:p>
            <a:pPr>
              <a:buFontTx/>
              <a:buChar char="-"/>
            </a:pPr>
            <a:r>
              <a:rPr lang="ru-RU" dirty="0"/>
              <a:t>Гаечный ключ</a:t>
            </a:r>
            <a:r>
              <a:rPr lang="en-US" dirty="0"/>
              <a:t>?</a:t>
            </a:r>
          </a:p>
          <a:p>
            <a:pPr>
              <a:buFontTx/>
              <a:buChar char="-"/>
            </a:pPr>
            <a:endParaRPr lang="en-US" dirty="0"/>
          </a:p>
          <a:p>
            <a:pPr marL="0" indent="0">
              <a:buNone/>
            </a:pPr>
            <a:r>
              <a:rPr lang="ru-RU" dirty="0"/>
              <a:t>Смысл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- </a:t>
            </a:r>
            <a:r>
              <a:rPr lang="ru-RU" dirty="0"/>
              <a:t>Понять а какой семантический смысл у слов и что именно это означает</a:t>
            </a:r>
            <a:r>
              <a:rPr lang="en-US" dirty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335852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FB652-CA9B-4846-94A4-5DA4737ED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C3C6C7-BC59-9955-8087-FA26FF09D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Семантический анализ (мы уже знаем что это)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5973741-FA00-F7D4-7D68-21573D38E1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ВОПРОС</a:t>
            </a:r>
            <a:r>
              <a:rPr lang="en-US" dirty="0"/>
              <a:t>: </a:t>
            </a:r>
          </a:p>
          <a:p>
            <a:pPr marL="0" indent="0">
              <a:buNone/>
            </a:pPr>
            <a:r>
              <a:rPr lang="ru-RU" dirty="0"/>
              <a:t>что показывает график</a:t>
            </a:r>
            <a:r>
              <a:rPr lang="en-US" dirty="0"/>
              <a:t>?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830E56F-F949-6F80-E996-8EAA22A073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3027" y="1695286"/>
            <a:ext cx="5794803" cy="4612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8465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F6097-2729-4943-9F36-066EC4BE5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8922AE-5013-C059-2E90-A5EA22877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методов анализа текстов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5E9388C-8FAE-3C83-7DDE-8DF3D66016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" dirty="0"/>
              <a:t>notebook_2_examples.ipynb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439878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A7327-8C2D-9C47-BBA3-58BC1743C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659023-0613-A50B-8015-00023952A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Векторизация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AF71256-853C-9F72-E898-8CE56E7CD9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Векторизация – превращение текста (токенов) в набор числового описания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Зачем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- </a:t>
            </a:r>
            <a:r>
              <a:rPr lang="ru-RU" dirty="0"/>
              <a:t>К векторам мы можем применить мат</a:t>
            </a:r>
            <a:r>
              <a:rPr lang="en-US" dirty="0"/>
              <a:t>. </a:t>
            </a:r>
            <a:r>
              <a:rPr lang="ru-RU" dirty="0"/>
              <a:t>операции (следовательно что-то можем считать)</a:t>
            </a:r>
            <a:endParaRPr lang="en-US" dirty="0"/>
          </a:p>
          <a:p>
            <a:pPr>
              <a:buFontTx/>
              <a:buChar char="-"/>
            </a:pPr>
            <a:r>
              <a:rPr lang="ru-RU" dirty="0"/>
              <a:t>В векторном представлении мы можем считать расстояние</a:t>
            </a:r>
          </a:p>
          <a:p>
            <a:pPr>
              <a:buFontTx/>
              <a:buChar char="-"/>
            </a:pPr>
            <a:r>
              <a:rPr lang="ru-RU" dirty="0"/>
              <a:t>Векторы позволяю сравнивать текст между собой</a:t>
            </a:r>
          </a:p>
        </p:txBody>
      </p:sp>
    </p:spTree>
    <p:extLst>
      <p:ext uri="{BB962C8B-B14F-4D97-AF65-F5344CB8AC3E}">
        <p14:creationId xmlns:p14="http://schemas.microsoft.com/office/powerpoint/2010/main" val="34505583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BBA6E-60BE-C365-92F6-FC982A477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035A84-3890-F76E-EDFC-C557C2CDF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Векторизация (примеры)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2B3D155-15AE-4BAD-15D1-F3E66D72A9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ru-RU" dirty="0"/>
              <a:t>Кошка спит на диване </a:t>
            </a:r>
            <a:r>
              <a:rPr lang="en-US" dirty="0"/>
              <a:t>= [0.2 , 4.   , 12.     ,  5]</a:t>
            </a:r>
          </a:p>
          <a:p>
            <a:pPr>
              <a:buFontTx/>
              <a:buChar char="-"/>
            </a:pPr>
            <a:r>
              <a:rPr lang="ru-RU" dirty="0"/>
              <a:t>Кошка гуляет по улицу </a:t>
            </a:r>
            <a:r>
              <a:rPr lang="en-US" dirty="0"/>
              <a:t>= [0.2, -0.5, 0.333, 1]</a:t>
            </a:r>
            <a:endParaRPr lang="ru-RU" dirty="0"/>
          </a:p>
          <a:p>
            <a:pPr>
              <a:buFontTx/>
              <a:buChar char="-"/>
            </a:pPr>
            <a:r>
              <a:rPr lang="en-US" dirty="0"/>
              <a:t>You are been </a:t>
            </a:r>
            <a:r>
              <a:rPr lang="en-US" dirty="0" err="1"/>
              <a:t>pwned</a:t>
            </a:r>
            <a:r>
              <a:rPr lang="en-US" dirty="0"/>
              <a:t> =</a:t>
            </a:r>
            <a:r>
              <a:rPr lang="ru-RU" dirty="0"/>
              <a:t>       </a:t>
            </a:r>
            <a:r>
              <a:rPr lang="en-US" dirty="0"/>
              <a:t> [-55, 100, 999,     8]</a:t>
            </a:r>
          </a:p>
          <a:p>
            <a:pPr>
              <a:buFontTx/>
              <a:buChar char="-"/>
            </a:pPr>
            <a:endParaRPr lang="en-US" dirty="0"/>
          </a:p>
          <a:p>
            <a:pPr marL="0" indent="0">
              <a:buNone/>
            </a:pPr>
            <a:r>
              <a:rPr lang="ru-RU" dirty="0"/>
              <a:t>Если векторы близки, фразы обычно близки по смыслу.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ru-RU" dirty="0"/>
              <a:t>ВОПРОС</a:t>
            </a:r>
            <a:r>
              <a:rPr lang="en-US" dirty="0"/>
              <a:t>: </a:t>
            </a:r>
            <a:r>
              <a:rPr lang="ru-RU" dirty="0"/>
              <a:t>что близко друг к другу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5330163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2A3AD-19F3-1BC6-E15F-ABCE8FBE9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A635D2-DBB9-ED2A-9430-AEC6ED144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Методы </a:t>
            </a:r>
            <a:r>
              <a:rPr lang="ru-RU" dirty="0" err="1"/>
              <a:t>веткоризации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24177E-B9AA-8A9C-F844-08BBC20EBB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ru-RU" dirty="0"/>
              <a:t>Базовые</a:t>
            </a:r>
            <a:r>
              <a:rPr lang="en-US" dirty="0"/>
              <a:t>: </a:t>
            </a:r>
            <a:endParaRPr lang="ru-RU" dirty="0"/>
          </a:p>
          <a:p>
            <a:pPr>
              <a:buFontTx/>
              <a:buChar char="-"/>
            </a:pPr>
            <a:r>
              <a:rPr lang="en-US" dirty="0" err="1"/>
              <a:t>CountVectorizer</a:t>
            </a:r>
            <a:r>
              <a:rPr lang="en-US" dirty="0"/>
              <a:t> – </a:t>
            </a:r>
            <a:r>
              <a:rPr lang="ru-RU" dirty="0"/>
              <a:t>частоты слов</a:t>
            </a:r>
          </a:p>
          <a:p>
            <a:pPr>
              <a:buFontTx/>
              <a:buChar char="-"/>
            </a:pPr>
            <a:r>
              <a:rPr lang="en-US" dirty="0"/>
              <a:t>TF-IDF – </a:t>
            </a:r>
            <a:r>
              <a:rPr lang="ru-RU" dirty="0"/>
              <a:t>частоты слов с учетом редкости</a:t>
            </a:r>
          </a:p>
          <a:p>
            <a:pPr>
              <a:buFontTx/>
              <a:buChar char="-"/>
            </a:pPr>
            <a:r>
              <a:rPr lang="en-US" dirty="0" err="1"/>
              <a:t>HashingVectorizer</a:t>
            </a:r>
            <a:r>
              <a:rPr lang="en-US" dirty="0"/>
              <a:t> – </a:t>
            </a:r>
            <a:r>
              <a:rPr lang="ru-RU" dirty="0" err="1"/>
              <a:t>хеши</a:t>
            </a:r>
            <a:r>
              <a:rPr lang="ru-RU" dirty="0"/>
              <a:t> слов (без словаря</a:t>
            </a:r>
            <a:r>
              <a:rPr lang="en-US" dirty="0"/>
              <a:t>, </a:t>
            </a:r>
            <a:r>
              <a:rPr lang="ru-RU" dirty="0"/>
              <a:t>оптимизация по памяти)</a:t>
            </a:r>
          </a:p>
          <a:p>
            <a:pPr>
              <a:buFontTx/>
              <a:buChar char="-"/>
            </a:pPr>
            <a:r>
              <a:rPr lang="en-US" dirty="0"/>
              <a:t>N-gram </a:t>
            </a:r>
            <a:r>
              <a:rPr lang="ru-RU" dirty="0"/>
              <a:t>(векторизация – с сочетаниями слов </a:t>
            </a:r>
            <a:r>
              <a:rPr lang="en-US" dirty="0"/>
              <a:t>bi/tri-gram)</a:t>
            </a:r>
          </a:p>
          <a:p>
            <a:pPr>
              <a:buFontTx/>
              <a:buChar char="-"/>
            </a:pPr>
            <a:endParaRPr lang="en-US" dirty="0"/>
          </a:p>
          <a:p>
            <a:pPr marL="0" indent="0">
              <a:buNone/>
            </a:pPr>
            <a:r>
              <a:rPr lang="ru-RU" dirty="0"/>
              <a:t>Векторные представления</a:t>
            </a:r>
            <a:r>
              <a:rPr lang="en-US" dirty="0"/>
              <a:t>:</a:t>
            </a:r>
          </a:p>
          <a:p>
            <a:pPr>
              <a:buFontTx/>
              <a:buChar char="-"/>
            </a:pPr>
            <a:r>
              <a:rPr lang="en-US" dirty="0"/>
              <a:t>Word2Vec</a:t>
            </a:r>
            <a:r>
              <a:rPr lang="ru-RU" dirty="0"/>
              <a:t> </a:t>
            </a:r>
          </a:p>
          <a:p>
            <a:pPr>
              <a:buFontTx/>
              <a:buChar char="-"/>
            </a:pPr>
            <a:r>
              <a:rPr lang="en-US" dirty="0" err="1"/>
              <a:t>FastText</a:t>
            </a:r>
            <a:endParaRPr lang="en-US" dirty="0"/>
          </a:p>
          <a:p>
            <a:pPr>
              <a:buFontTx/>
              <a:buChar char="-"/>
            </a:pPr>
            <a:endParaRPr lang="en-US" dirty="0"/>
          </a:p>
          <a:p>
            <a:pPr marL="0" indent="0">
              <a:buNone/>
            </a:pPr>
            <a:r>
              <a:rPr lang="ru-RU" dirty="0"/>
              <a:t>Современные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- </a:t>
            </a:r>
            <a:r>
              <a:rPr lang="en-US" dirty="0" err="1"/>
              <a:t>TransformerVectorizer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- LLM </a:t>
            </a:r>
            <a:r>
              <a:rPr lang="en-US" dirty="0" err="1"/>
              <a:t>Embeding</a:t>
            </a:r>
            <a:endParaRPr lang="en-US" dirty="0"/>
          </a:p>
          <a:p>
            <a:pPr>
              <a:buFontTx/>
              <a:buChar char="-"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56799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80924-BE7D-5258-1C0E-BBDA539CB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36473A-3D40-2B75-BECF-31446ECC8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Косинусовое</a:t>
            </a:r>
            <a:r>
              <a:rPr lang="ru-RU" dirty="0"/>
              <a:t> сходство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A2DA20DD-A7B9-0659-3E14-6AF82685A60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1000" y="2738739"/>
            <a:ext cx="6350000" cy="220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D89C12B-F930-B77C-82A5-DD002E06E445}"/>
              </a:ext>
            </a:extLst>
          </p:cNvPr>
          <p:cNvSpPr txBox="1"/>
          <p:nvPr/>
        </p:nvSpPr>
        <p:spPr>
          <a:xfrm>
            <a:off x="2653862" y="4866290"/>
            <a:ext cx="68842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Идея – понять насколько 2 вектора смотрят в одну сторону</a:t>
            </a:r>
          </a:p>
        </p:txBody>
      </p:sp>
    </p:spTree>
    <p:extLst>
      <p:ext uri="{BB962C8B-B14F-4D97-AF65-F5344CB8AC3E}">
        <p14:creationId xmlns:p14="http://schemas.microsoft.com/office/powerpoint/2010/main" val="38652597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DDE8A-3167-FA2F-3845-E7F246E00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4038E4-5FB5-65DB-1FB7-86D5F6168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Примеры всего дальше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E1BEA7E-C472-A958-F73D-B1A99B4C7B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" dirty="0"/>
              <a:t>notebook_</a:t>
            </a:r>
            <a:r>
              <a:rPr lang="ru-RU" dirty="0"/>
              <a:t>3_</a:t>
            </a:r>
            <a:r>
              <a:rPr lang="en-US" dirty="0" err="1"/>
              <a:t>vectorization.ipynb</a:t>
            </a:r>
            <a:endParaRPr lang="ru-RU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10374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90533-FA67-3562-BEE7-A98D4AAC0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2AF265-2591-F63C-E385-8341BF852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 для чего используется</a:t>
            </a:r>
            <a:r>
              <a:rPr lang="en-US" dirty="0"/>
              <a:t>?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FDE96CC-217D-5577-0DEE-2FE31BAF5C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Задачи</a:t>
            </a:r>
            <a:r>
              <a:rPr lang="en-US" dirty="0"/>
              <a:t>, </a:t>
            </a:r>
            <a:r>
              <a:rPr lang="ru-RU" dirty="0"/>
              <a:t>которые мы умеет</a:t>
            </a:r>
            <a:r>
              <a:rPr lang="en-US" dirty="0"/>
              <a:t>:</a:t>
            </a:r>
          </a:p>
          <a:p>
            <a:pPr>
              <a:buFontTx/>
              <a:buChar char="-"/>
            </a:pPr>
            <a:r>
              <a:rPr lang="ru-RU" dirty="0"/>
              <a:t>Поиск похожих документов</a:t>
            </a:r>
            <a:r>
              <a:rPr lang="en-US" dirty="0"/>
              <a:t>/</a:t>
            </a:r>
            <a:r>
              <a:rPr lang="ru-RU" dirty="0"/>
              <a:t>вопросов</a:t>
            </a:r>
          </a:p>
          <a:p>
            <a:pPr>
              <a:buFontTx/>
              <a:buChar char="-"/>
            </a:pPr>
            <a:r>
              <a:rPr lang="ru-RU" dirty="0"/>
              <a:t>Классификация текста (спам</a:t>
            </a:r>
            <a:r>
              <a:rPr lang="en-US" dirty="0"/>
              <a:t>, </a:t>
            </a:r>
            <a:r>
              <a:rPr lang="ru-RU" dirty="0"/>
              <a:t>тема</a:t>
            </a:r>
            <a:r>
              <a:rPr lang="en-US" dirty="0"/>
              <a:t>, </a:t>
            </a:r>
            <a:r>
              <a:rPr lang="ru-RU" dirty="0"/>
              <a:t>тональность)</a:t>
            </a:r>
          </a:p>
          <a:p>
            <a:pPr>
              <a:buFontTx/>
              <a:buChar char="-"/>
            </a:pPr>
            <a:r>
              <a:rPr lang="ru-RU" dirty="0"/>
              <a:t>Кластеризация (группировка по темам)</a:t>
            </a:r>
          </a:p>
          <a:p>
            <a:pPr>
              <a:buFontTx/>
              <a:buChar char="-"/>
            </a:pPr>
            <a:r>
              <a:rPr lang="ru-RU" dirty="0"/>
              <a:t>Рекомендательные системы (похожие статьи)</a:t>
            </a:r>
          </a:p>
          <a:p>
            <a:pPr>
              <a:buFontTx/>
              <a:buChar char="-"/>
            </a:pPr>
            <a:endParaRPr lang="ru-RU" dirty="0"/>
          </a:p>
          <a:p>
            <a:pPr marL="0" indent="0">
              <a:buNone/>
            </a:pPr>
            <a:r>
              <a:rPr lang="ru-RU" dirty="0"/>
              <a:t>Ключевая идея</a:t>
            </a:r>
            <a:r>
              <a:rPr lang="en-US" dirty="0"/>
              <a:t>: </a:t>
            </a:r>
            <a:r>
              <a:rPr lang="ru-RU" dirty="0"/>
              <a:t>векторизация это то</a:t>
            </a:r>
            <a:r>
              <a:rPr lang="en-US" dirty="0"/>
              <a:t>, </a:t>
            </a:r>
            <a:r>
              <a:rPr lang="ru-RU" dirty="0"/>
              <a:t>что превращает сырой текст в форму</a:t>
            </a:r>
            <a:r>
              <a:rPr lang="en-US" dirty="0"/>
              <a:t>, </a:t>
            </a:r>
            <a:r>
              <a:rPr lang="ru-RU" dirty="0"/>
              <a:t>пригодную для анализа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28202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4419E-6DD0-030D-320D-20259A769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CB4D788-8DBA-B314-0DDE-15595DD6EB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спасибо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552744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</TotalTime>
  <Words>829</Words>
  <Application>Microsoft Macintosh PowerPoint</Application>
  <PresentationFormat>Широкоэкранный</PresentationFormat>
  <Paragraphs>161</Paragraphs>
  <Slides>27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27</vt:i4>
      </vt:variant>
    </vt:vector>
  </HeadingPairs>
  <TitlesOfParts>
    <vt:vector size="32" baseType="lpstr">
      <vt:lpstr>Aptos</vt:lpstr>
      <vt:lpstr>Aptos Display</vt:lpstr>
      <vt:lpstr>Arial</vt:lpstr>
      <vt:lpstr>Wingdings</vt:lpstr>
      <vt:lpstr>Тема Office</vt:lpstr>
      <vt:lpstr>Методы обработки семантической информации</vt:lpstr>
      <vt:lpstr>До лекции</vt:lpstr>
      <vt:lpstr>План на сегодня</vt:lpstr>
      <vt:lpstr>План на сегодня</vt:lpstr>
      <vt:lpstr>NLP (natural language processing)</vt:lpstr>
      <vt:lpstr>Примеры выполнения задач NLP</vt:lpstr>
      <vt:lpstr>Методы анализа текстов</vt:lpstr>
      <vt:lpstr>Токенизация</vt:lpstr>
      <vt:lpstr>Токенизация (примеры)</vt:lpstr>
      <vt:lpstr>Морфологический анализ (примеры)</vt:lpstr>
      <vt:lpstr>Морфологический анализ  (немного правил русского языка)</vt:lpstr>
      <vt:lpstr>Синтаксический анализ</vt:lpstr>
      <vt:lpstr>Синтаксический анализ</vt:lpstr>
      <vt:lpstr>Синтаксический анализ (пример)</vt:lpstr>
      <vt:lpstr>Синтаксический анализ (пример)</vt:lpstr>
      <vt:lpstr>Семантический анализ</vt:lpstr>
      <vt:lpstr>Семантический анализ (пример)</vt:lpstr>
      <vt:lpstr>Семантический анализ (пример)</vt:lpstr>
      <vt:lpstr>Семантический анализ (мы уже знаем что это)</vt:lpstr>
      <vt:lpstr>Пример методов анализа текстов</vt:lpstr>
      <vt:lpstr>Векторизация</vt:lpstr>
      <vt:lpstr>Векторизация (примеры)</vt:lpstr>
      <vt:lpstr>Методы веткоризации</vt:lpstr>
      <vt:lpstr>Косинусовое сходство</vt:lpstr>
      <vt:lpstr>Примеры всего дальше</vt:lpstr>
      <vt:lpstr>А для чего используется?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fj975</dc:creator>
  <cp:lastModifiedBy>fj975</cp:lastModifiedBy>
  <cp:revision>16</cp:revision>
  <dcterms:created xsi:type="dcterms:W3CDTF">2026-02-27T09:59:08Z</dcterms:created>
  <dcterms:modified xsi:type="dcterms:W3CDTF">2026-02-27T12:42:29Z</dcterms:modified>
</cp:coreProperties>
</file>