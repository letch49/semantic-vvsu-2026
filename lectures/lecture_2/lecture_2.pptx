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5"/>
    <p:sldId id="280" r:id="rId4"/>
    <p:sldId id="281" r:id="rId3"/>
    <p:sldId id="282" r:id="rId2"/>
    <p:sldId id="283" r:id="rId33"/>
    <p:sldId id="284" r:id="rId34"/>
    <p:sldId id="285" r:id="rId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7.xml"/><Relationship Id="rId3" Type="http://schemas.openxmlformats.org/officeDocument/2006/relationships/slide" Target="slides/slide26.xml"/><Relationship Id="rId4" Type="http://schemas.openxmlformats.org/officeDocument/2006/relationships/slide" Target="slides/slide25.xml"/><Relationship Id="rId5" Type="http://schemas.openxmlformats.org/officeDocument/2006/relationships/slide" Target="slides/slide2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DEF200-5950-B44B-F416-D159982DB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B245FA7-8A40-3ED6-C914-FA82BB48F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D57710-E280-7FD2-38C0-8483F191F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81051D-E473-7490-AFC3-F3530613B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0B3543-0B31-8EF7-752A-154AD217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702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F3D875-E9CA-209C-A830-3CC211A8A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3DE414-D4C0-37F0-F754-100FE93A4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47A6AE-D1F8-F793-C686-268447582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CD3D8E-A101-912C-09DD-83790E54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304F6F-21D8-D3DA-B1BB-0ED2FF446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32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451599-9C20-90F1-454D-EE25FCDFE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B5FDA8-89F4-82FC-C751-A83A57D59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50D9FC-EFE5-A5A7-6FDE-210F63945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839B6C-C989-245A-BE64-4BD91655A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AD7077-F3E3-B977-E124-ACD07BA1B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424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5B0152-0E8F-A4D7-4E31-9E7D85A24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6DA706-6340-FF0F-1A0E-4A46E6E801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438739C-8104-980D-330E-4F19A9655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976F5B-C2A7-BB6A-6E0A-41F1B140E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5056BF-D809-DFCD-7152-1111CB04A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4D957E-DDA4-CCFE-5783-DCEA8EB1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684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DB945-097E-BF57-2D10-66FBAC5BE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E4925A-7FA5-23FA-3408-0207EB239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4D7F19-A930-76C2-9387-FDCF56BDA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5FFFAAE-0BC9-176F-0E04-1E61DB7963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ACACBF8-A46E-5A2D-2D18-FDF1F2074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75E671-C1B9-22AE-A790-6B3B18248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3D20114-F8F7-692B-B498-19F5D2031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D487302-BB55-CA6E-6074-AC988768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03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2F37A7-7979-79BF-54D2-9AA1FC67E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224AE80-39A1-A925-CA8A-468AA4C91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93452A0-4373-EB6F-D28C-9026F22A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5878518-2DAE-FD85-7A04-D6D1A4B55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608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6254269-FCB8-D3E8-D8DF-F50BD0E43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E9692CB-B6DC-5BD2-73A0-217E82FD2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57CD11-3EBE-5EEB-AE29-B5954EFC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482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DBAE2B-AF49-0167-004C-2EB87000B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9AEEB6-F7BA-5F99-D690-8F0CDB5AE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F865BF5-93AF-76A7-3878-41BE2A083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AB3018-29B9-390A-76A1-532574FB4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7DFA10-5E8E-CE00-7FC6-D3934A25C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B8AA3D-7423-BABA-834A-248999C7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7446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E3B94-302F-2320-1AF1-FD7922D22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BE53293-8219-FAF2-BC99-6F99B76437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AA4D6A-A91E-9683-C134-E11D0D8C4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D8D4C-5F45-D946-4F8A-D3F958DA2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46C00D-1C52-D860-0C93-04762AF28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1DD66A-50FB-7B74-375C-208426784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573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25FD36-ABCA-32AA-1D06-909B4EC91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8730F8-8214-EE9B-F7C6-B27C43774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DD1869-14D6-259C-2C57-FD744742B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DB894E-37A4-C685-25A9-59433A420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484389-A5FB-DA65-86FC-3CA1691FE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31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C24BF7F-A46F-3DC5-AB84-71058B6FF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234545-8344-55FE-0F57-A9223EFA6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E955D0-05FA-DE91-11BE-9D0CAE3D0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A3A7C9-CBBB-A9D4-EA37-B5EA9DA5D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B3C9D1-9D1F-D0F2-7FE1-64F577BAE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5611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DFDDEA-A450-39F7-179C-A1857D463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34423C-BE68-6195-5AF1-10B84126B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8C8024-644C-C661-5C2C-573CFCF69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7E61EC-92F0-F630-EB18-1F0A1A9C8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948572-0369-FACB-CD76-59202D67E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295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Методы обработки семантической информации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Лекция 2 – Нейронные сети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на сегодня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Что такое нейросеть</a:t>
            </a:r>
          </a:p>
          <a:p>
            <a:r>
              <a:t>Из каких деталей она состоит</a:t>
            </a:r>
          </a:p>
          <a:p>
            <a:r>
              <a:t>Функции активации</a:t>
            </a:r>
          </a:p>
          <a:p>
            <a:r>
              <a:t>Loss, оптимизаторы, Dropout</a:t>
            </a:r>
          </a:p>
          <a:p>
            <a:r>
              <a:t>Пример: бинарная классификация</a:t>
            </a:r>
          </a:p>
          <a:p>
            <a:r>
              <a:t>Пример: распознавание цифр</a:t>
            </a:r>
          </a:p>
          <a:p>
            <a:r>
              <a:t>Применение к тексту: тональность</a:t>
            </a:r>
          </a:p>
          <a:p>
            <a:r>
              <a:t>Поиск ближайших текстов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нейросеть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Программа, которая берет числа на входе,</a:t>
            </a:r>
          </a:p>
          <a:p>
            <a:r>
              <a:t>прогоняет через слои вычислений и выдает ответ</a:t>
            </a:r>
          </a:p>
          <a:p/>
          <a:p>
            <a:r>
              <a:t>Самая маленькая деталь — нейрон:</a:t>
            </a:r>
          </a:p>
          <a:p>
            <a:r>
              <a:t>z = w1·x1 + w2·x2 + b</a:t>
            </a:r>
          </a:p>
          <a:p>
            <a:r>
              <a:t>потом — функция активации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Словарик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Вход (feature) — число на входе модели</a:t>
            </a:r>
          </a:p>
          <a:p>
            <a:r>
              <a:t>Вес (weight) — коэффициент важности</a:t>
            </a:r>
          </a:p>
          <a:p>
            <a:r>
              <a:t>Смещение (bias) — сдвиг</a:t>
            </a:r>
          </a:p>
          <a:p>
            <a:r>
              <a:t>Активация — нелинейное преобразование</a:t>
            </a:r>
          </a:p>
          <a:p>
            <a:r>
              <a:t>Слой (layer) — группа нейронов</a:t>
            </a:r>
          </a:p>
          <a:p>
            <a:r>
              <a:t>Loss — число ошибки</a:t>
            </a:r>
          </a:p>
          <a:p>
            <a:r>
              <a:t>Оптимизатор — алгоритм, двигающий веса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Dense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Dense — полносвязный слой</a:t>
            </a:r>
          </a:p>
          <a:p>
            <a:r>
              <a:t>Каждый вход соединен с каждым нейроном</a:t>
            </a:r>
          </a:p>
          <a:p/>
          <a:p>
            <a:r>
              <a:t>Пример: 2 входа → Dense(4) → 4 нейрона</a:t>
            </a:r>
          </a:p>
          <a:p>
            <a:r>
              <a:t>Каждый нейрон получает оба входа</a:t>
            </a:r>
          </a:p>
          <a:p/>
          <a:p>
            <a:r>
              <a:t>Сколько нейронов? Подбирается экспериментально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Нейрон вручную + схема сети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notebook_1_about_neural.ipynb</a:t>
            </a:r>
          </a:p>
          <a:p/>
          <a:p>
            <a:r>
              <a:t>Ячейки: «Один нейрон вручную»</a:t>
            </a:r>
          </a:p>
          <a:p>
            <a:r>
              <a:t>и «Простая схема полносвязной сети»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Функции активации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ReLU — если &gt; 0 → оставляет, иначе → 0</a:t>
            </a:r>
          </a:p>
          <a:p>
            <a:r>
              <a:t>sigmoid — сжимает в 0..1</a:t>
            </a:r>
          </a:p>
          <a:p>
            <a:r>
              <a:t>softmax — вероятности, сумма = 1</a:t>
            </a:r>
          </a:p>
          <a:p>
            <a:r>
              <a:t>tanh — сжимает в -1..1</a:t>
            </a:r>
          </a:p>
          <a:p/>
          <a:p>
            <a:r>
              <a:t>Без активации 100 слоев = одна линейная формула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Графики активаций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notebook_1_about_neural.ipynb</a:t>
            </a:r>
          </a:p>
          <a:p/>
          <a:p>
            <a:r>
              <a:t>Ячейка: «Графики функций активации + пример softmax»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Loss — оценка ошибки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Loss — одно число: насколько модель ошиблась</a:t>
            </a:r>
          </a:p>
          <a:p/>
          <a:p>
            <a:r>
              <a:t>Ошиблась уверенно → loss большой</a:t>
            </a:r>
          </a:p>
          <a:p>
            <a:r>
              <a:t>Угадала уверенно → loss маленький</a:t>
            </a:r>
          </a:p>
          <a:p/>
          <a:p>
            <a:r>
              <a:t>binary_crossentropy — для 2 классов</a:t>
            </a:r>
          </a:p>
          <a:p>
            <a:r>
              <a:t>categorical_crossentropy — для нескольких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Оптимизаторы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Оптимизатор смотрит на loss и двигает веса</a:t>
            </a:r>
          </a:p>
          <a:p/>
          <a:p>
            <a:r>
              <a:t>SGD — простой градиентный спуск</a:t>
            </a:r>
          </a:p>
          <a:p>
            <a:r>
              <a:t>Adam — «умный» SGD, подстраивает шаг сам</a:t>
            </a:r>
          </a:p>
          <a:p>
            <a:r>
              <a:t>RMSprop — похож на Adam, проще</a:t>
            </a:r>
          </a:p>
          <a:p/>
          <a:p>
            <a:r>
              <a:t>Аналогия: спуск с горы в тумане</a:t>
            </a:r>
          </a:p>
          <a:p>
            <a:r>
              <a:t>SGD → идете вниз | Adam → запоминаете рельеф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оптимизаторов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notebook_1_about_neural.ipynb</a:t>
            </a:r>
          </a:p>
          <a:p/>
          <a:p>
            <a:r>
              <a:t>Ячейка: «Сравниваем оптимизаторы»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Dropout — защита от переобучения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При обучении случайная часть нейронов выключается</a:t>
            </a:r>
          </a:p>
          <a:p/>
          <a:p>
            <a:r>
              <a:t>Dropout(0.2) → ~20% нейронов отключаются</a:t>
            </a:r>
          </a:p>
          <a:p/>
          <a:p>
            <a:r>
              <a:t>Сеть не полагается на один путь</a:t>
            </a:r>
          </a:p>
          <a:p>
            <a:r>
              <a:t>При predict() — все нейроны работают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fit() и predict()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fit() — запуск обучения:</a:t>
            </a:r>
          </a:p>
          <a:p>
            <a:r>
              <a:t>  1. Прогон данных через сеть</a:t>
            </a:r>
          </a:p>
          <a:p>
            <a:r>
              <a:t>  2. Подсчет loss</a:t>
            </a:r>
          </a:p>
          <a:p>
            <a:r>
              <a:t>  3. Оптимизатор двигает веса</a:t>
            </a:r>
          </a:p>
          <a:p>
            <a:r>
              <a:t>  4. Повторяем (эпохи)</a:t>
            </a:r>
          </a:p>
          <a:p/>
          <a:p>
            <a:r>
              <a:t>predict() — прогноз на обученных весах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 binary crossentropy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notebook_1_about_neural.ipynb</a:t>
            </a:r>
          </a:p>
          <a:p/>
          <a:p>
            <a:r>
              <a:t>Ячейка: «Небольшой пример binary crossentropy»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 1: бинарная классификация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Задача: разделить точки двух классов</a:t>
            </a:r>
          </a:p>
          <a:p/>
          <a:p>
            <a:r>
              <a:t>Вход: 2 числа (координаты)</a:t>
            </a:r>
          </a:p>
          <a:p>
            <a:r>
              <a:t>Скрытый слой: Dense(8) + ReLU</a:t>
            </a:r>
          </a:p>
          <a:p>
            <a:r>
              <a:t>Dropout(0.2)</a:t>
            </a:r>
          </a:p>
          <a:p>
            <a:r>
              <a:t>Выход: Dense(1) + sigmoid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 1: демо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notebook_1_about_neural.ipynb</a:t>
            </a:r>
          </a:p>
          <a:p/>
          <a:p>
            <a:r>
              <a:t>Ячейки: генерация данных → обучение</a:t>
            </a:r>
          </a:p>
          <a:p>
            <a:r>
              <a:t>→ граница решения → веса → predict()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 2: распознавание цифр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Картинка 8x8 → 10 классов (цифры 0-9)</a:t>
            </a:r>
          </a:p>
          <a:p/>
          <a:p>
            <a:r>
              <a:t>Что изменилось:</a:t>
            </a:r>
          </a:p>
          <a:p>
            <a:r>
              <a:t>Вход: 64 числа вместо 2</a:t>
            </a:r>
          </a:p>
          <a:p>
            <a:r>
              <a:t>Выход: softmax на 10 классов</a:t>
            </a:r>
          </a:p>
          <a:p>
            <a:r>
              <a:t>Loss: sparse_categorical_crossentropy</a:t>
            </a:r>
          </a:p>
          <a:p>
            <a:r>
              <a:t>Ответ: argmax из 10 вероятностей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 2: демо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notebook_1_about_neural.ipynb</a:t>
            </a:r>
          </a:p>
          <a:p/>
          <a:p>
            <a:r>
              <a:t>Ячейки: загрузка digits → обучение</a:t>
            </a:r>
          </a:p>
          <a:p>
            <a:r>
              <a:t>→ confusion matrix → одна цифра по шагам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 первой части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Dense — основной блок</a:t>
            </a:r>
          </a:p>
          <a:p>
            <a:r>
              <a:t>ReLU / sigmoid / softmax — активации</a:t>
            </a:r>
          </a:p>
          <a:p>
            <a:r>
              <a:t>Loss — число ошибки</a:t>
            </a:r>
          </a:p>
          <a:p>
            <a:r>
              <a:t>Оптимизатор (Adam, SGD) — двигает веса</a:t>
            </a:r>
          </a:p>
          <a:p>
            <a:r>
              <a:t>Dropout — защита от переобучения</a:t>
            </a:r>
          </a:p>
          <a:p>
            <a:r>
              <a:t>fit() — обучение | predict() — прогноз</a:t>
            </a:r>
          </a:p>
          <a:p/>
          <a:p>
            <a:r>
              <a:t>Одна цепочка: луны → цифры → текст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Переходим к тексту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 первой части вход — числа</a:t>
            </a:r>
          </a:p>
          <a:p>
            <a:r>
              <a:t>Нейросеть не умеет работать со строками</a:t>
            </a:r>
          </a:p>
          <a:p/>
          <a:p>
            <a:r>
              <a:t>Текст → числа → слои → ответ</a:t>
            </a:r>
          </a:p>
          <a:p/>
          <a:p>
            <a:r>
              <a:t>Все остальное — те же кирпичики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Наши тексты: train_data.txt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notebook_2_text_tonal.ipynb</a:t>
            </a:r>
          </a:p>
          <a:p/>
          <a:p>
            <a:r>
              <a:t>Ячейка: «Загружаем тексты из train_data.txt»</a:t>
            </a:r>
          </a:p>
          <a:p>
            <a:r>
              <a:t>Файл можно редактировать и перезапускать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Готовая модель тональности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Модель обучена на корпусе русских текстов</a:t>
            </a:r>
          </a:p>
          <a:p>
            <a:r>
              <a:t>Мы вызываем predict — веса уже внутри</a:t>
            </a:r>
          </a:p>
          <a:p/>
          <a:p>
            <a:r>
              <a:t>Быстрый результат без сбора данных и fit()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Готовая модель: демо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notebook_2_text_tonal.ipynb</a:t>
            </a:r>
          </a:p>
          <a:p/>
          <a:p>
            <a:r>
              <a:t>Ячейка: «Готовая модель для оценки тональности»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Поиск ближайших текстов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Тональность → «какая эмоция?»</a:t>
            </a:r>
          </a:p>
          <a:p>
            <a:r>
              <a:t>Поиск ближайших → «какие тексты похожи?»</a:t>
            </a:r>
          </a:p>
          <a:p/>
          <a:p>
            <a:r>
              <a:t>1. Текст → вектор (эмбеддинг)</a:t>
            </a:r>
          </a:p>
          <a:p>
            <a:r>
              <a:t>2. cosine similarity между векторами</a:t>
            </a:r>
          </a:p>
          <a:p>
            <a:r>
              <a:t>3. Чем выше — тем ближе по смыслу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Поиск ближайших: демо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notebook_2_text_tonal.ipynb</a:t>
            </a:r>
          </a:p>
          <a:p/>
          <a:p>
            <a:r>
              <a:t>Ячейка: «Ищем ближайшие тексты»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Своя модель: IMDB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IMDB — отзывы на фильмы (0 = негатив, 1 = позитив)</a:t>
            </a:r>
          </a:p>
          <a:p>
            <a:r>
              <a:t>Размечен заранее</a:t>
            </a:r>
          </a:p>
          <a:p/>
          <a:p>
            <a:r>
              <a:t>Новые блоки:</a:t>
            </a:r>
          </a:p>
          <a:p>
            <a:r>
              <a:t>Embedding — индекс слова → вектор</a:t>
            </a:r>
          </a:p>
          <a:p>
            <a:r>
              <a:t>GlobalAveragePooling1D — усредняет слова</a:t>
            </a:r>
          </a:p>
          <a:p/>
          <a:p>
            <a:r>
              <a:t>Дальше: Dense, Dropout, sigmoid, fit(), predict()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текстовой сети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notebook_2_text_tonal.ipynb</a:t>
            </a:r>
          </a:p>
          <a:p/>
          <a:p>
            <a:r>
              <a:t>Текст → Токены → Embedding → Pooling → Dense → Sigmoid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Обучение IMDB: демо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notebook_2_text_tonal.ipynb</a:t>
            </a:r>
          </a:p>
          <a:p/>
          <a:p>
            <a:r>
              <a:t>Ячейки: создание модели → обучение</a:t>
            </a:r>
          </a:p>
          <a:p>
            <a:r>
              <a:t>→ confusion matrix → примеры предсказаний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 лекции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Нейросеть = конструктор из простых деталей</a:t>
            </a:r>
          </a:p>
          <a:p>
            <a:r>
              <a:t>Dense, активации, loss, оптимизатор, Dropout</a:t>
            </a:r>
          </a:p>
          <a:p/>
          <a:p>
            <a:r>
              <a:t>Для текста: слова → числа (Embedding + Pooling)</a:t>
            </a:r>
          </a:p>
          <a:p/>
          <a:p>
            <a:r>
              <a:t>Готовые модели = быстрый результат</a:t>
            </a:r>
          </a:p>
          <a:p>
            <a:r>
              <a:t>Своя модель = контроль и понимание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Спасибо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829</Words>
  <Application>Microsoft Macintosh PowerPoint</Application>
  <PresentationFormat>Широкоэкранный</PresentationFormat>
  <Paragraphs>161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Wingdings</vt:lpstr>
      <vt:lpstr>Тема Office</vt:lpstr>
      <vt:lpstr>Методы обработки семантической информации</vt:lpstr>
      <vt:lpstr>До лекции</vt:lpstr>
      <vt:lpstr>План на сегодня</vt:lpstr>
      <vt:lpstr>План на сегодня</vt:lpstr>
      <vt:lpstr>NLP (natural language processing)</vt:lpstr>
      <vt:lpstr>Примеры выполнения задач NLP</vt:lpstr>
      <vt:lpstr>Методы анализа текстов</vt:lpstr>
      <vt:lpstr>Токенизация</vt:lpstr>
      <vt:lpstr>Токенизация (примеры)</vt:lpstr>
      <vt:lpstr>Морфологический анализ (примеры)</vt:lpstr>
      <vt:lpstr>Морфологический анализ  (немного правил русского языка)</vt:lpstr>
      <vt:lpstr>Синтаксический анализ</vt:lpstr>
      <vt:lpstr>Синтаксический анализ</vt:lpstr>
      <vt:lpstr>Синтаксический анализ (пример)</vt:lpstr>
      <vt:lpstr>Синтаксический анализ (пример)</vt:lpstr>
      <vt:lpstr>Семантический анализ</vt:lpstr>
      <vt:lpstr>Семантический анализ (пример)</vt:lpstr>
      <vt:lpstr>Семантический анализ (пример)</vt:lpstr>
      <vt:lpstr>Семантический анализ (мы уже знаем что это)</vt:lpstr>
      <vt:lpstr>Пример методов анализа текстов</vt:lpstr>
      <vt:lpstr>Векторизация</vt:lpstr>
      <vt:lpstr>Векторизация (примеры)</vt:lpstr>
      <vt:lpstr>Методы веткоризации</vt:lpstr>
      <vt:lpstr>Косинусовое сходство</vt:lpstr>
      <vt:lpstr>Примеры всего дальше</vt:lpstr>
      <vt:lpstr>А для чего используется?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fj975</dc:creator>
  <cp:lastModifiedBy>fj975</cp:lastModifiedBy>
  <cp:revision>16</cp:revision>
  <dcterms:created xsi:type="dcterms:W3CDTF">2026-02-27T09:59:08Z</dcterms:created>
  <dcterms:modified xsi:type="dcterms:W3CDTF">2026-02-27T12:42:29Z</dcterms:modified>
</cp:coreProperties>
</file>